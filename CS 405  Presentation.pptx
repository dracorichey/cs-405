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embeddedFontLst>
    <p:embeddedFont>
      <p:font typeface="Century Gothic"/>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9" roundtripDataSignature="AMtx7mhjKjAmI4YwLSH5zWUYWu6B6SyS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8B9C795-F52C-4A19-B14B-CEF2AF5FB048}">
  <a:tblStyle styleId="{68B9C795-F52C-4A19-B14B-CEF2AF5FB04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enturyGothic-bold.fntdata"/><Relationship Id="rId25" Type="http://schemas.openxmlformats.org/officeDocument/2006/relationships/font" Target="fonts/CenturyGothic-regular.fntdata"/><Relationship Id="rId28" Type="http://schemas.openxmlformats.org/officeDocument/2006/relationships/font" Target="fonts/CenturyGothic-boldItalic.fntdata"/><Relationship Id="rId27" Type="http://schemas.openxmlformats.org/officeDocument/2006/relationships/font" Target="fonts/CenturyGothic-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c9f15f6705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3c9f15f6705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c9f15f6705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3c9f15f6705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c9f15f6705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3c9f15f6705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c9f15f6705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3c9f15f6705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9f15f6705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3c9f15f6705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pic>
        <p:nvPicPr>
          <p:cNvPr descr="C0-HD-BTM.png" id="13" name="Google Shape;13;p16"/>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4" name="Google Shape;14;p16"/>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6"/>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6"/>
          <p:cNvSpPr txBox="1"/>
          <p:nvPr>
            <p:ph idx="10" type="dt"/>
          </p:nvPr>
        </p:nvSpPr>
        <p:spPr>
          <a:xfrm>
            <a:off x="7909561" y="4314328"/>
            <a:ext cx="2910840" cy="37464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1" type="ftr"/>
          </p:nvPr>
        </p:nvSpPr>
        <p:spPr>
          <a:xfrm>
            <a:off x="1371600" y="4323845"/>
            <a:ext cx="6400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7"/>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 name="Google Shape;22;p1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5" name="Shape 25"/>
        <p:cNvGrpSpPr/>
        <p:nvPr/>
      </p:nvGrpSpPr>
      <p:grpSpPr>
        <a:xfrm>
          <a:off x="0" y="0"/>
          <a:ext cx="0" cy="0"/>
          <a:chOff x="0" y="0"/>
          <a:chExt cx="0" cy="0"/>
        </a:xfrm>
      </p:grpSpPr>
      <p:pic>
        <p:nvPicPr>
          <p:cNvPr descr="C0-HD-BTM.png" id="26" name="Google Shape;26;p1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27" name="Google Shape;27;p18"/>
          <p:cNvSpPr txBox="1"/>
          <p:nvPr>
            <p:ph type="title"/>
          </p:nvPr>
        </p:nvSpPr>
        <p:spPr>
          <a:xfrm>
            <a:off x="685800" y="753533"/>
            <a:ext cx="10820399" cy="2801935"/>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8"/>
          <p:cNvSpPr txBox="1"/>
          <p:nvPr>
            <p:ph idx="1" type="body"/>
          </p:nvPr>
        </p:nvSpPr>
        <p:spPr>
          <a:xfrm>
            <a:off x="1024467" y="3641725"/>
            <a:ext cx="10490200" cy="9556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29" name="Google Shape;29;p18"/>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1" type="ftr"/>
          </p:nvPr>
        </p:nvSpPr>
        <p:spPr>
          <a:xfrm>
            <a:off x="685800" y="381001"/>
            <a:ext cx="6991492" cy="3640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1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txBox="1"/>
          <p:nvPr>
            <p:ph idx="1" type="body"/>
          </p:nvPr>
        </p:nvSpPr>
        <p:spPr>
          <a:xfrm>
            <a:off x="6858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5" name="Google Shape;35;p19"/>
          <p:cNvSpPr txBox="1"/>
          <p:nvPr>
            <p:ph idx="2" type="body"/>
          </p:nvPr>
        </p:nvSpPr>
        <p:spPr>
          <a:xfrm>
            <a:off x="61722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 name="Google Shape;36;p1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20"/>
          <p:cNvSpPr txBox="1"/>
          <p:nvPr>
            <p:ph type="title"/>
          </p:nvPr>
        </p:nvSpPr>
        <p:spPr>
          <a:xfrm>
            <a:off x="2895600" y="762000"/>
            <a:ext cx="8610600"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 type="body"/>
          </p:nvPr>
        </p:nvSpPr>
        <p:spPr>
          <a:xfrm>
            <a:off x="914409" y="2183802"/>
            <a:ext cx="50799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2" name="Google Shape;42;p20"/>
          <p:cNvSpPr txBox="1"/>
          <p:nvPr>
            <p:ph idx="2" type="body"/>
          </p:nvPr>
        </p:nvSpPr>
        <p:spPr>
          <a:xfrm>
            <a:off x="685800" y="3132666"/>
            <a:ext cx="5311775"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20"/>
          <p:cNvSpPr txBox="1"/>
          <p:nvPr>
            <p:ph idx="3" type="body"/>
          </p:nvPr>
        </p:nvSpPr>
        <p:spPr>
          <a:xfrm>
            <a:off x="6400800" y="2183802"/>
            <a:ext cx="51054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4" name="Google Shape;44;p20"/>
          <p:cNvSpPr txBox="1"/>
          <p:nvPr>
            <p:ph idx="4" type="body"/>
          </p:nvPr>
        </p:nvSpPr>
        <p:spPr>
          <a:xfrm>
            <a:off x="6172200" y="3132666"/>
            <a:ext cx="5334000"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5" name="Google Shape;45;p2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2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2"/>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23"/>
          <p:cNvSpPr txBox="1"/>
          <p:nvPr>
            <p:ph type="title"/>
          </p:nvPr>
        </p:nvSpPr>
        <p:spPr>
          <a:xfrm>
            <a:off x="685800" y="1524000"/>
            <a:ext cx="4114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 type="body"/>
          </p:nvPr>
        </p:nvSpPr>
        <p:spPr>
          <a:xfrm>
            <a:off x="4995582" y="746759"/>
            <a:ext cx="6510618" cy="5471925"/>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 name="Google Shape;60;p23"/>
          <p:cNvSpPr txBox="1"/>
          <p:nvPr>
            <p:ph idx="2" type="body"/>
          </p:nvPr>
        </p:nvSpPr>
        <p:spPr>
          <a:xfrm>
            <a:off x="685800" y="3124199"/>
            <a:ext cx="411480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1" name="Google Shape;61;p2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24"/>
          <p:cNvSpPr txBox="1"/>
          <p:nvPr>
            <p:ph type="title"/>
          </p:nvPr>
        </p:nvSpPr>
        <p:spPr>
          <a:xfrm>
            <a:off x="685800" y="1524000"/>
            <a:ext cx="68732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p:nvPr>
            <p:ph idx="2" type="pic"/>
          </p:nvPr>
        </p:nvSpPr>
        <p:spPr>
          <a:xfrm>
            <a:off x="7861238" y="751241"/>
            <a:ext cx="3644962" cy="5467443"/>
          </a:xfrm>
          <a:prstGeom prst="rect">
            <a:avLst/>
          </a:prstGeom>
          <a:noFill/>
          <a:ln>
            <a:noFill/>
          </a:ln>
        </p:spPr>
      </p:sp>
      <p:sp>
        <p:nvSpPr>
          <p:cNvPr id="67" name="Google Shape;67;p24"/>
          <p:cNvSpPr txBox="1"/>
          <p:nvPr>
            <p:ph idx="1" type="body"/>
          </p:nvPr>
        </p:nvSpPr>
        <p:spPr>
          <a:xfrm>
            <a:off x="685800" y="3124199"/>
            <a:ext cx="687324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8" name="Google Shape;68;p24"/>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4"/>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sp>
        <p:nvSpPr>
          <p:cNvPr id="72" name="Google Shape;72;p25"/>
          <p:cNvSpPr txBox="1"/>
          <p:nvPr>
            <p:ph type="title"/>
          </p:nvPr>
        </p:nvSpPr>
        <p:spPr>
          <a:xfrm>
            <a:off x="685777" y="4697360"/>
            <a:ext cx="10822034"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p:nvPr>
            <p:ph idx="2" type="pic"/>
          </p:nvPr>
        </p:nvSpPr>
        <p:spPr>
          <a:xfrm>
            <a:off x="681727" y="941439"/>
            <a:ext cx="10821840" cy="3478161"/>
          </a:xfrm>
          <a:prstGeom prst="rect">
            <a:avLst/>
          </a:prstGeom>
          <a:noFill/>
          <a:ln>
            <a:noFill/>
          </a:ln>
        </p:spPr>
      </p:sp>
      <p:sp>
        <p:nvSpPr>
          <p:cNvPr id="74" name="Google Shape;74;p25"/>
          <p:cNvSpPr txBox="1"/>
          <p:nvPr>
            <p:ph idx="1" type="body"/>
          </p:nvPr>
        </p:nvSpPr>
        <p:spPr>
          <a:xfrm>
            <a:off x="685800" y="5516715"/>
            <a:ext cx="10820400" cy="7019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5" name="Google Shape;75;p2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78" name="Shape 78"/>
        <p:cNvGrpSpPr/>
        <p:nvPr/>
      </p:nvGrpSpPr>
      <p:grpSpPr>
        <a:xfrm>
          <a:off x="0" y="0"/>
          <a:ext cx="0" cy="0"/>
          <a:chOff x="0" y="0"/>
          <a:chExt cx="0" cy="0"/>
        </a:xfrm>
      </p:grpSpPr>
      <p:pic>
        <p:nvPicPr>
          <p:cNvPr descr="C0-HD-BTM.png" id="79" name="Google Shape;79;p26"/>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0" name="Google Shape;80;p26"/>
          <p:cNvSpPr txBox="1"/>
          <p:nvPr>
            <p:ph type="title"/>
          </p:nvPr>
        </p:nvSpPr>
        <p:spPr>
          <a:xfrm>
            <a:off x="685800" y="753532"/>
            <a:ext cx="10820400" cy="28024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txBox="1"/>
          <p:nvPr>
            <p:ph idx="1" type="body"/>
          </p:nvPr>
        </p:nvSpPr>
        <p:spPr>
          <a:xfrm>
            <a:off x="1024467" y="3649133"/>
            <a:ext cx="10130516" cy="9990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2" name="Google Shape;82;p26"/>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85" name="Shape 85"/>
        <p:cNvGrpSpPr/>
        <p:nvPr/>
      </p:nvGrpSpPr>
      <p:grpSpPr>
        <a:xfrm>
          <a:off x="0" y="0"/>
          <a:ext cx="0" cy="0"/>
          <a:chOff x="0" y="0"/>
          <a:chExt cx="0" cy="0"/>
        </a:xfrm>
      </p:grpSpPr>
      <p:pic>
        <p:nvPicPr>
          <p:cNvPr descr="C0-HD-BTM.png" id="86" name="Google Shape;86;p27"/>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7" name="Google Shape;87;p27"/>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7"/>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27"/>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0" name="Google Shape;90;p27"/>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7"/>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7"/>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95" name="Shape 95"/>
        <p:cNvGrpSpPr/>
        <p:nvPr/>
      </p:nvGrpSpPr>
      <p:grpSpPr>
        <a:xfrm>
          <a:off x="0" y="0"/>
          <a:ext cx="0" cy="0"/>
          <a:chOff x="0" y="0"/>
          <a:chExt cx="0" cy="0"/>
        </a:xfrm>
      </p:grpSpPr>
      <p:pic>
        <p:nvPicPr>
          <p:cNvPr descr="C0-HD-BTM.png" id="96" name="Google Shape;96;p2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7" name="Google Shape;97;p28"/>
          <p:cNvSpPr txBox="1"/>
          <p:nvPr>
            <p:ph type="title"/>
          </p:nvPr>
        </p:nvSpPr>
        <p:spPr>
          <a:xfrm>
            <a:off x="1024495" y="1124701"/>
            <a:ext cx="10146186"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8"/>
          <p:cNvSpPr txBox="1"/>
          <p:nvPr>
            <p:ph idx="1" type="body"/>
          </p:nvPr>
        </p:nvSpPr>
        <p:spPr>
          <a:xfrm>
            <a:off x="1024467" y="3648315"/>
            <a:ext cx="10144654" cy="9998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9" name="Google Shape;99;p28"/>
          <p:cNvSpPr txBox="1"/>
          <p:nvPr>
            <p:ph idx="10" type="dt"/>
          </p:nvPr>
        </p:nvSpPr>
        <p:spPr>
          <a:xfrm>
            <a:off x="7814452" y="378883"/>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8"/>
          <p:cNvSpPr txBox="1"/>
          <p:nvPr>
            <p:ph idx="11" type="ftr"/>
          </p:nvPr>
        </p:nvSpPr>
        <p:spPr>
          <a:xfrm>
            <a:off x="685800" y="378883"/>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29"/>
          <p:cNvSpPr txBox="1"/>
          <p:nvPr>
            <p:ph type="title"/>
          </p:nvPr>
        </p:nvSpPr>
        <p:spPr>
          <a:xfrm>
            <a:off x="2895600" y="761999"/>
            <a:ext cx="8610599" cy="130386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9"/>
          <p:cNvSpPr txBox="1"/>
          <p:nvPr>
            <p:ph idx="1" type="body"/>
          </p:nvPr>
        </p:nvSpPr>
        <p:spPr>
          <a:xfrm>
            <a:off x="685800" y="2202080"/>
            <a:ext cx="3456432" cy="61732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5" name="Google Shape;105;p29"/>
          <p:cNvSpPr txBox="1"/>
          <p:nvPr>
            <p:ph idx="2" type="body"/>
          </p:nvPr>
        </p:nvSpPr>
        <p:spPr>
          <a:xfrm>
            <a:off x="685799"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29"/>
          <p:cNvSpPr txBox="1"/>
          <p:nvPr>
            <p:ph idx="3" type="body"/>
          </p:nvPr>
        </p:nvSpPr>
        <p:spPr>
          <a:xfrm>
            <a:off x="4368800" y="2201333"/>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29"/>
          <p:cNvSpPr txBox="1"/>
          <p:nvPr>
            <p:ph idx="4" type="body"/>
          </p:nvPr>
        </p:nvSpPr>
        <p:spPr>
          <a:xfrm>
            <a:off x="4366858" y="2904067"/>
            <a:ext cx="3456432" cy="33146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8" name="Google Shape;108;p29"/>
          <p:cNvSpPr txBox="1"/>
          <p:nvPr>
            <p:ph idx="5" type="body"/>
          </p:nvPr>
        </p:nvSpPr>
        <p:spPr>
          <a:xfrm>
            <a:off x="8051800" y="2192866"/>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9" name="Google Shape;109;p29"/>
          <p:cNvSpPr txBox="1"/>
          <p:nvPr>
            <p:ph idx="6" type="body"/>
          </p:nvPr>
        </p:nvSpPr>
        <p:spPr>
          <a:xfrm>
            <a:off x="8051801"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0" name="Google Shape;110;p2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3" name="Shape 113"/>
        <p:cNvGrpSpPr/>
        <p:nvPr/>
      </p:nvGrpSpPr>
      <p:grpSpPr>
        <a:xfrm>
          <a:off x="0" y="0"/>
          <a:ext cx="0" cy="0"/>
          <a:chOff x="0" y="0"/>
          <a:chExt cx="0" cy="0"/>
        </a:xfrm>
      </p:grpSpPr>
      <p:sp>
        <p:nvSpPr>
          <p:cNvPr id="114" name="Google Shape;114;p30"/>
          <p:cNvSpPr txBox="1"/>
          <p:nvPr>
            <p:ph type="title"/>
          </p:nvPr>
        </p:nvSpPr>
        <p:spPr>
          <a:xfrm>
            <a:off x="2895600" y="762000"/>
            <a:ext cx="8610599"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0"/>
          <p:cNvSpPr txBox="1"/>
          <p:nvPr>
            <p:ph idx="1" type="body"/>
          </p:nvPr>
        </p:nvSpPr>
        <p:spPr>
          <a:xfrm>
            <a:off x="688618" y="4191000"/>
            <a:ext cx="3451582"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6" name="Google Shape;116;p30"/>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1960"/>
              </a:srgbClr>
            </a:outerShdw>
          </a:effectLst>
        </p:spPr>
      </p:sp>
      <p:sp>
        <p:nvSpPr>
          <p:cNvPr id="117" name="Google Shape;117;p30"/>
          <p:cNvSpPr txBox="1"/>
          <p:nvPr>
            <p:ph idx="3" type="body"/>
          </p:nvPr>
        </p:nvSpPr>
        <p:spPr>
          <a:xfrm>
            <a:off x="688618" y="4873764"/>
            <a:ext cx="3451582"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8" name="Google Shape;118;p30"/>
          <p:cNvSpPr txBox="1"/>
          <p:nvPr>
            <p:ph idx="4" type="body"/>
          </p:nvPr>
        </p:nvSpPr>
        <p:spPr>
          <a:xfrm>
            <a:off x="4374263" y="4191000"/>
            <a:ext cx="3448935"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9" name="Google Shape;119;p30"/>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1960"/>
              </a:srgbClr>
            </a:outerShdw>
          </a:effectLst>
        </p:spPr>
      </p:sp>
      <p:sp>
        <p:nvSpPr>
          <p:cNvPr id="120" name="Google Shape;120;p30"/>
          <p:cNvSpPr txBox="1"/>
          <p:nvPr>
            <p:ph idx="6" type="body"/>
          </p:nvPr>
        </p:nvSpPr>
        <p:spPr>
          <a:xfrm>
            <a:off x="4374264" y="4873763"/>
            <a:ext cx="344893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1" name="Google Shape;121;p30"/>
          <p:cNvSpPr txBox="1"/>
          <p:nvPr>
            <p:ph idx="7" type="body"/>
          </p:nvPr>
        </p:nvSpPr>
        <p:spPr>
          <a:xfrm>
            <a:off x="8049731" y="4191000"/>
            <a:ext cx="3456469"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2" name="Google Shape;122;p30"/>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1960"/>
              </a:srgbClr>
            </a:outerShdw>
          </a:effectLst>
        </p:spPr>
      </p:sp>
      <p:sp>
        <p:nvSpPr>
          <p:cNvPr id="123" name="Google Shape;123;p30"/>
          <p:cNvSpPr txBox="1"/>
          <p:nvPr>
            <p:ph idx="9" type="body"/>
          </p:nvPr>
        </p:nvSpPr>
        <p:spPr>
          <a:xfrm>
            <a:off x="8049731" y="4873761"/>
            <a:ext cx="345244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4" name="Google Shape;124;p3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3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1"/>
          <p:cNvSpPr txBox="1"/>
          <p:nvPr>
            <p:ph idx="1" type="body"/>
          </p:nvPr>
        </p:nvSpPr>
        <p:spPr>
          <a:xfrm rot="5400000">
            <a:off x="4083937" y="-1203579"/>
            <a:ext cx="4024125" cy="1082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0" name="Google Shape;130;p3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33" name="Shape 133"/>
        <p:cNvGrpSpPr/>
        <p:nvPr/>
      </p:nvGrpSpPr>
      <p:grpSpPr>
        <a:xfrm>
          <a:off x="0" y="0"/>
          <a:ext cx="0" cy="0"/>
          <a:chOff x="0" y="0"/>
          <a:chExt cx="0" cy="0"/>
        </a:xfrm>
      </p:grpSpPr>
      <p:pic>
        <p:nvPicPr>
          <p:cNvPr descr="C0-HD-BTM.png" id="134" name="Google Shape;134;p3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5" name="Google Shape;135;p32"/>
          <p:cNvSpPr txBox="1"/>
          <p:nvPr>
            <p:ph type="title"/>
          </p:nvPr>
        </p:nvSpPr>
        <p:spPr>
          <a:xfrm rot="5400000">
            <a:off x="8525933" y="1667933"/>
            <a:ext cx="3903133" cy="20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2"/>
          <p:cNvSpPr txBox="1"/>
          <p:nvPr>
            <p:ph idx="1" type="body"/>
          </p:nvPr>
        </p:nvSpPr>
        <p:spPr>
          <a:xfrm rot="5400000">
            <a:off x="3175000" y="-1405467"/>
            <a:ext cx="3903133" cy="8204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7" name="Google Shape;137;p32"/>
          <p:cNvSpPr txBox="1"/>
          <p:nvPr>
            <p:ph idx="10" type="dt"/>
          </p:nvPr>
        </p:nvSpPr>
        <p:spPr>
          <a:xfrm>
            <a:off x="7814452" y="379941"/>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2"/>
          <p:cNvSpPr txBox="1"/>
          <p:nvPr>
            <p:ph idx="11" type="ftr"/>
          </p:nvPr>
        </p:nvSpPr>
        <p:spPr>
          <a:xfrm>
            <a:off x="685800" y="381000"/>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2"/>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pic>
        <p:nvPicPr>
          <p:cNvPr descr="C0-HD-TOP.png" id="6" name="Google Shape;6;p15"/>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7" name="Google Shape;7;p1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marR="0" rtl="0" algn="r">
              <a:lnSpc>
                <a:spcPct val="90000"/>
              </a:lnSpc>
              <a:spcBef>
                <a:spcPts val="0"/>
              </a:spcBef>
              <a:spcAft>
                <a:spcPts val="0"/>
              </a:spcAft>
              <a:buClr>
                <a:schemeClr val="lt1"/>
              </a:buClr>
              <a:buSzPts val="4000"/>
              <a:buFont typeface="Century Gothic"/>
              <a:buNone/>
              <a:defRPr b="0" i="0" sz="40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5"/>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9" name="Google Shape;9;p1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1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1" name="Google Shape;11;p1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owasp.org/www-project-top-ten/" TargetMode="External"/><Relationship Id="rId4" Type="http://schemas.openxmlformats.org/officeDocument/2006/relationships/hyperlink" Target="https://csrc.nist.gov/publications/detail/sp/800-57-part-1/rev-5/final" TargetMode="External"/><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type="ctrTitle"/>
          </p:nvPr>
        </p:nvSpPr>
        <p:spPr>
          <a:xfrm>
            <a:off x="1371600" y="1790153"/>
            <a:ext cx="9448800" cy="182509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p:nvPr>
            <p:ph idx="1" type="subTitle"/>
          </p:nvPr>
        </p:nvSpPr>
        <p:spPr>
          <a:xfrm>
            <a:off x="1371600" y="3632200"/>
            <a:ext cx="9448800" cy="1561592"/>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Clr>
                <a:schemeClr val="lt1"/>
              </a:buClr>
              <a:buSzPts val="1850"/>
              <a:buNone/>
            </a:pPr>
            <a:r>
              <a:rPr lang="en-US" sz="1850"/>
              <a:t>Security Policy Presentation</a:t>
            </a:r>
            <a:endParaRPr/>
          </a:p>
          <a:p>
            <a:pPr indent="0" lvl="0" marL="0" rtl="0" algn="l">
              <a:lnSpc>
                <a:spcPct val="70000"/>
              </a:lnSpc>
              <a:spcBef>
                <a:spcPts val="1000"/>
              </a:spcBef>
              <a:spcAft>
                <a:spcPts val="0"/>
              </a:spcAft>
              <a:buClr>
                <a:schemeClr val="lt1"/>
              </a:buClr>
              <a:buSzPts val="1850"/>
              <a:buNone/>
            </a:pPr>
            <a:r>
              <a:rPr lang="en-US" sz="1850"/>
              <a:t>Developer: </a:t>
            </a:r>
            <a:r>
              <a:rPr i="1" lang="en-US" sz="1850"/>
              <a:t>Seth Richey</a:t>
            </a:r>
            <a:endParaRPr i="1" sz="1850"/>
          </a:p>
          <a:p>
            <a:pPr indent="0" lvl="0" marL="0" rtl="0" algn="l">
              <a:lnSpc>
                <a:spcPct val="70000"/>
              </a:lnSpc>
              <a:spcBef>
                <a:spcPts val="1000"/>
              </a:spcBef>
              <a:spcAft>
                <a:spcPts val="0"/>
              </a:spcAft>
              <a:buClr>
                <a:schemeClr val="lt1"/>
              </a:buClr>
              <a:buSzPts val="1850"/>
              <a:buNone/>
            </a:pPr>
            <a:r>
              <a:rPr i="1" lang="en-US" sz="1850"/>
              <a:t>Date:02/20/2026</a:t>
            </a:r>
            <a:endParaRPr i="1" sz="1850"/>
          </a:p>
          <a:p>
            <a:pPr indent="0" lvl="0" marL="0" rtl="0" algn="l">
              <a:lnSpc>
                <a:spcPct val="70000"/>
              </a:lnSpc>
              <a:spcBef>
                <a:spcPts val="1000"/>
              </a:spcBef>
              <a:spcAft>
                <a:spcPts val="0"/>
              </a:spcAft>
              <a:buClr>
                <a:schemeClr val="lt1"/>
              </a:buClr>
              <a:buSzPts val="1850"/>
              <a:buNone/>
            </a:pPr>
            <a:r>
              <a:rPr i="1" lang="en-US" sz="1850"/>
              <a:t>YouTube Link: www.youtube.com/watch?v=wwJqXd6AltU&amp;feature=youtu.be</a:t>
            </a:r>
            <a:endParaRPr i="1" sz="1850"/>
          </a:p>
        </p:txBody>
      </p:sp>
      <p:pic>
        <p:nvPicPr>
          <p:cNvPr descr="Green Pace logo" id="146" name="Google Shape;146;p1"/>
          <p:cNvPicPr preferRelativeResize="0"/>
          <p:nvPr/>
        </p:nvPicPr>
        <p:blipFill rotWithShape="1">
          <a:blip r:embed="rId3">
            <a:alphaModFix/>
          </a:blip>
          <a:srcRect b="0" l="0" r="0" t="0"/>
          <a:stretch/>
        </p:blipFill>
        <p:spPr>
          <a:xfrm>
            <a:off x="7440774" y="659854"/>
            <a:ext cx="2921424" cy="378677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p:nvPr>
            <p:ph idx="1" type="body"/>
          </p:nvPr>
        </p:nvSpPr>
        <p:spPr>
          <a:xfrm>
            <a:off x="6916075" y="2874725"/>
            <a:ext cx="4198200" cy="3832500"/>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t>• Formalized secure coding standards</a:t>
            </a:r>
            <a:endParaRPr/>
          </a:p>
          <a:p>
            <a:pPr indent="0" lvl="0" marL="0" rtl="0" algn="l">
              <a:spcBef>
                <a:spcPts val="1000"/>
              </a:spcBef>
              <a:spcAft>
                <a:spcPts val="0"/>
              </a:spcAft>
              <a:buClr>
                <a:schemeClr val="dk1"/>
              </a:buClr>
              <a:buSzPts val="1100"/>
              <a:buFont typeface="Arial"/>
              <a:buNone/>
            </a:pPr>
            <a:r>
              <a:rPr lang="en-US"/>
              <a:t>• Organized under 10 guiding principles</a:t>
            </a:r>
            <a:endParaRPr/>
          </a:p>
          <a:p>
            <a:pPr indent="0" lvl="0" marL="0" rtl="0" algn="l">
              <a:spcBef>
                <a:spcPts val="1000"/>
              </a:spcBef>
              <a:spcAft>
                <a:spcPts val="0"/>
              </a:spcAft>
              <a:buClr>
                <a:schemeClr val="dk1"/>
              </a:buClr>
              <a:buSzPts val="1100"/>
              <a:buFont typeface="Arial"/>
              <a:buNone/>
            </a:pPr>
            <a:r>
              <a:rPr lang="en-US"/>
              <a:t>• Integrated into DevSecOps pipeline</a:t>
            </a:r>
            <a:endParaRPr/>
          </a:p>
          <a:p>
            <a:pPr indent="0" lvl="0" marL="0" rtl="0" algn="l">
              <a:spcBef>
                <a:spcPts val="1000"/>
              </a:spcBef>
              <a:spcAft>
                <a:spcPts val="0"/>
              </a:spcAft>
              <a:buClr>
                <a:schemeClr val="dk1"/>
              </a:buClr>
              <a:buSzPts val="1100"/>
              <a:buFont typeface="Arial"/>
              <a:buNone/>
            </a:pPr>
            <a:r>
              <a:rPr lang="en-US"/>
              <a:t>• Defense-in-depth architecture</a:t>
            </a:r>
            <a:endParaRPr/>
          </a:p>
          <a:p>
            <a:pPr indent="0" lvl="0" marL="0" rtl="0" algn="l">
              <a:lnSpc>
                <a:spcPct val="90000"/>
              </a:lnSpc>
              <a:spcBef>
                <a:spcPts val="1000"/>
              </a:spcBef>
              <a:spcAft>
                <a:spcPts val="0"/>
              </a:spcAft>
              <a:buClr>
                <a:schemeClr val="lt1"/>
              </a:buClr>
              <a:buSzPts val="2200"/>
              <a:buNone/>
            </a:pPr>
            <a:r>
              <a:rPr lang="en-US"/>
              <a:t>• Assumption of vulnerability</a:t>
            </a:r>
            <a:endParaRPr/>
          </a:p>
        </p:txBody>
      </p:sp>
      <p:pic>
        <p:nvPicPr>
          <p:cNvPr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id="153" name="Google Shape;153;p3"/>
          <p:cNvPicPr preferRelativeResize="0"/>
          <p:nvPr/>
        </p:nvPicPr>
        <p:blipFill rotWithShape="1">
          <a:blip r:embed="rId3">
            <a:alphaModFix/>
          </a:blip>
          <a:srcRect b="0" l="0" r="0" t="0"/>
          <a:stretch/>
        </p:blipFill>
        <p:spPr>
          <a:xfrm>
            <a:off x="271818" y="2651536"/>
            <a:ext cx="6453258" cy="3797196"/>
          </a:xfrm>
          <a:prstGeom prst="rect">
            <a:avLst/>
          </a:prstGeom>
          <a:noFill/>
          <a:ln>
            <a:noFill/>
          </a:ln>
        </p:spPr>
      </p:pic>
      <p:pic>
        <p:nvPicPr>
          <p:cNvPr descr="Green Pace logo" id="154" name="Google Shape;154;p3"/>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4"/>
          <p:cNvSpPr txBox="1"/>
          <p:nvPr>
            <p:ph type="title"/>
          </p:nvPr>
        </p:nvSpPr>
        <p:spPr>
          <a:xfrm>
            <a:off x="2109525" y="758623"/>
            <a:ext cx="86106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p:nvPr>
            <p:ph idx="1" type="body"/>
          </p:nvPr>
        </p:nvSpPr>
        <p:spPr>
          <a:xfrm flipH="1" rot="10800000">
            <a:off x="-2714050" y="6803575"/>
            <a:ext cx="2765100" cy="4085400"/>
          </a:xfrm>
          <a:prstGeom prst="rect">
            <a:avLst/>
          </a:prstGeom>
          <a:noFill/>
          <a:ln>
            <a:noFill/>
          </a:ln>
        </p:spPr>
        <p:txBody>
          <a:bodyPr anchorCtr="0" anchor="t" bIns="45700" lIns="91425" spcFirstLastPara="1" rIns="91425" wrap="square" tIns="45700">
            <a:normAutofit/>
          </a:bodyPr>
          <a:lstStyle/>
          <a:p>
            <a:pPr indent="-88900" lvl="0" marL="228600" rtl="0" algn="l">
              <a:lnSpc>
                <a:spcPct val="90000"/>
              </a:lnSpc>
              <a:spcBef>
                <a:spcPts val="1000"/>
              </a:spcBef>
              <a:spcAft>
                <a:spcPts val="0"/>
              </a:spcAft>
              <a:buClr>
                <a:schemeClr val="lt1"/>
              </a:buClr>
              <a:buSzPts val="2200"/>
              <a:buNone/>
            </a:pPr>
            <a:r>
              <a:t/>
            </a:r>
            <a:endParaRPr sz="100"/>
          </a:p>
        </p:txBody>
      </p:sp>
      <p:graphicFrame>
        <p:nvGraphicFramePr>
          <p:cNvPr descr="Alt text required" id="161" name="Google Shape;161;p4"/>
          <p:cNvGraphicFramePr/>
          <p:nvPr/>
        </p:nvGraphicFramePr>
        <p:xfrm>
          <a:off x="2345625" y="2438400"/>
          <a:ext cx="3000000" cy="3000000"/>
        </p:xfrm>
        <a:graphic>
          <a:graphicData uri="http://schemas.openxmlformats.org/drawingml/2006/table">
            <a:tbl>
              <a:tblPr firstCol="1" firstRow="1">
                <a:noFill/>
                <a:tableStyleId>{68B9C795-F52C-4A19-B14B-CEF2AF5FB048}</a:tableStyleId>
              </a:tblPr>
              <a:tblGrid>
                <a:gridCol w="4030425"/>
                <a:gridCol w="3804800"/>
              </a:tblGrid>
              <a:tr h="1863275">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1C232"/>
                          </a:solidFill>
                        </a:rPr>
                        <a:t>Likely</a:t>
                      </a:r>
                      <a:endParaRPr sz="1400" u="none" cap="none" strike="noStrike">
                        <a:solidFill>
                          <a:srgbClr val="F1C232"/>
                        </a:solidFill>
                      </a:endParaRPr>
                    </a:p>
                    <a:p>
                      <a:pPr indent="0" lvl="0" marL="0" rtl="0" algn="ctr">
                        <a:spcBef>
                          <a:spcPts val="0"/>
                        </a:spcBef>
                        <a:spcAft>
                          <a:spcPts val="0"/>
                        </a:spcAft>
                        <a:buClr>
                          <a:schemeClr val="dk1"/>
                        </a:buClr>
                        <a:buSzPts val="1100"/>
                        <a:buFont typeface="Arial"/>
                        <a:buNone/>
                      </a:pPr>
                      <a:r>
                        <a:rPr lang="en-US" sz="1800">
                          <a:solidFill>
                            <a:schemeClr val="dk1"/>
                          </a:solidFill>
                        </a:rPr>
                        <a:t>Buffer Overflow</a:t>
                      </a:r>
                      <a:endParaRPr sz="1800">
                        <a:solidFill>
                          <a:schemeClr val="dk1"/>
                        </a:solidFill>
                      </a:endParaRPr>
                    </a:p>
                    <a:p>
                      <a:pPr indent="0" lvl="0" marL="0" rtl="0" algn="ctr">
                        <a:spcBef>
                          <a:spcPts val="0"/>
                        </a:spcBef>
                        <a:spcAft>
                          <a:spcPts val="0"/>
                        </a:spcAft>
                        <a:buClr>
                          <a:schemeClr val="dk1"/>
                        </a:buClr>
                        <a:buSzPts val="1100"/>
                        <a:buFont typeface="Arial"/>
                        <a:buNone/>
                      </a:pPr>
                      <a:r>
                        <a:rPr lang="en-US" sz="1800">
                          <a:solidFill>
                            <a:schemeClr val="dk1"/>
                          </a:solidFill>
                        </a:rPr>
                        <a:t>Input Validation Failures</a:t>
                      </a:r>
                      <a:endParaRPr sz="1800">
                        <a:solidFill>
                          <a:schemeClr val="dk1"/>
                        </a:solidFill>
                      </a:endParaRPr>
                    </a:p>
                    <a:p>
                      <a:pPr indent="0" lvl="0" marL="0" rtl="0" algn="ctr">
                        <a:spcBef>
                          <a:spcPts val="0"/>
                        </a:spcBef>
                        <a:spcAft>
                          <a:spcPts val="0"/>
                        </a:spcAft>
                        <a:buClr>
                          <a:schemeClr val="dk1"/>
                        </a:buClr>
                        <a:buSzPts val="1100"/>
                        <a:buFont typeface="Arial"/>
                        <a:buNone/>
                      </a:pPr>
                      <a:r>
                        <a:rPr lang="en-US" sz="1800">
                          <a:solidFill>
                            <a:schemeClr val="dk1"/>
                          </a:solidFill>
                        </a:rPr>
                        <a:t>Memory Mismanagement</a:t>
                      </a:r>
                      <a:endParaRPr sz="1800">
                        <a:solidFill>
                          <a:schemeClr val="dk1"/>
                        </a:solidFill>
                      </a:endParaRPr>
                    </a:p>
                    <a:p>
                      <a:pPr indent="0" lvl="0" marL="0" marR="0" rtl="0" algn="ctr">
                        <a:lnSpc>
                          <a:spcPct val="100000"/>
                        </a:lnSpc>
                        <a:spcBef>
                          <a:spcPts val="0"/>
                        </a:spcBef>
                        <a:spcAft>
                          <a:spcPts val="0"/>
                        </a:spcAft>
                        <a:buClr>
                          <a:srgbClr val="000000"/>
                        </a:buClr>
                        <a:buSzPts val="3600"/>
                        <a:buFont typeface="Arial"/>
                        <a:buNone/>
                      </a:pPr>
                      <a:r>
                        <a:rPr lang="en-US" sz="1800">
                          <a:solidFill>
                            <a:schemeClr val="dk1"/>
                          </a:solidFill>
                        </a:rPr>
                        <a:t>Hardcoded Credentials</a:t>
                      </a:r>
                      <a:endParaRPr sz="1800">
                        <a:solidFill>
                          <a:schemeClr val="dk1"/>
                        </a:solidFill>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1C232"/>
                          </a:solidFill>
                        </a:rPr>
                        <a:t>Priority</a:t>
                      </a:r>
                      <a:endParaRPr sz="1400" u="none" cap="none" strike="noStrike">
                        <a:solidFill>
                          <a:srgbClr val="F1C232"/>
                        </a:solidFill>
                      </a:endParaRPr>
                    </a:p>
                    <a:p>
                      <a:pPr indent="0" lvl="0" marL="0" rtl="0" algn="ctr">
                        <a:spcBef>
                          <a:spcPts val="0"/>
                        </a:spcBef>
                        <a:spcAft>
                          <a:spcPts val="0"/>
                        </a:spcAft>
                        <a:buClr>
                          <a:schemeClr val="dk1"/>
                        </a:buClr>
                        <a:buSzPts val="1100"/>
                        <a:buFont typeface="Arial"/>
                        <a:buNone/>
                      </a:pPr>
                      <a:r>
                        <a:rPr lang="en-US" sz="1800">
                          <a:solidFill>
                            <a:schemeClr val="dk1"/>
                          </a:solidFill>
                        </a:rPr>
                        <a:t>SQL Injection</a:t>
                      </a:r>
                      <a:endParaRPr sz="1800">
                        <a:solidFill>
                          <a:schemeClr val="dk1"/>
                        </a:solidFill>
                      </a:endParaRPr>
                    </a:p>
                    <a:p>
                      <a:pPr indent="0" lvl="0" marL="0" rtl="0" algn="ctr">
                        <a:spcBef>
                          <a:spcPts val="0"/>
                        </a:spcBef>
                        <a:spcAft>
                          <a:spcPts val="0"/>
                        </a:spcAft>
                        <a:buClr>
                          <a:schemeClr val="dk1"/>
                        </a:buClr>
                        <a:buSzPts val="1100"/>
                        <a:buFont typeface="Arial"/>
                        <a:buNone/>
                      </a:pPr>
                      <a:r>
                        <a:rPr lang="en-US" sz="1800">
                          <a:solidFill>
                            <a:schemeClr val="dk1"/>
                          </a:solidFill>
                        </a:rPr>
                        <a:t>Broken Access Control</a:t>
                      </a:r>
                      <a:endParaRPr sz="1800">
                        <a:solidFill>
                          <a:schemeClr val="dk1"/>
                        </a:solidFill>
                      </a:endParaRPr>
                    </a:p>
                    <a:p>
                      <a:pPr indent="0" lvl="0" marL="0" rtl="0" algn="ctr">
                        <a:spcBef>
                          <a:spcPts val="0"/>
                        </a:spcBef>
                        <a:spcAft>
                          <a:spcPts val="0"/>
                        </a:spcAft>
                        <a:buClr>
                          <a:schemeClr val="dk1"/>
                        </a:buClr>
                        <a:buSzPts val="1100"/>
                        <a:buFont typeface="Arial"/>
                        <a:buNone/>
                      </a:pPr>
                      <a:r>
                        <a:rPr lang="en-US" sz="1800">
                          <a:solidFill>
                            <a:schemeClr val="dk1"/>
                          </a:solidFill>
                        </a:rPr>
                        <a:t>Improper Authentication</a:t>
                      </a:r>
                      <a:endParaRPr sz="1800">
                        <a:solidFill>
                          <a:schemeClr val="dk1"/>
                        </a:solidFill>
                      </a:endParaRPr>
                    </a:p>
                    <a:p>
                      <a:pPr indent="0" lvl="0" marL="0" marR="0" rtl="0" algn="ctr">
                        <a:lnSpc>
                          <a:spcPct val="100000"/>
                        </a:lnSpc>
                        <a:spcBef>
                          <a:spcPts val="0"/>
                        </a:spcBef>
                        <a:spcAft>
                          <a:spcPts val="0"/>
                        </a:spcAft>
                        <a:buClr>
                          <a:srgbClr val="000000"/>
                        </a:buClr>
                        <a:buSzPts val="3600"/>
                        <a:buFont typeface="Arial"/>
                        <a:buNone/>
                      </a:pPr>
                      <a:r>
                        <a:rPr lang="en-US" sz="1800">
                          <a:solidFill>
                            <a:schemeClr val="dk1"/>
                          </a:solidFill>
                        </a:rPr>
                        <a:t>Sensitive Data Exposure</a:t>
                      </a:r>
                      <a:endParaRPr sz="1800">
                        <a:solidFill>
                          <a:schemeClr val="dk1"/>
                        </a:solidFill>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r h="1769325">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1C232"/>
                          </a:solidFill>
                        </a:rPr>
                        <a:t>Low priority</a:t>
                      </a:r>
                      <a:endParaRPr sz="1400" u="none" cap="none" strike="noStrike">
                        <a:solidFill>
                          <a:srgbClr val="F1C232"/>
                        </a:solidFill>
                      </a:endParaRPr>
                    </a:p>
                    <a:p>
                      <a:pPr indent="0" lvl="0" marL="0" rtl="0" algn="ctr">
                        <a:spcBef>
                          <a:spcPts val="0"/>
                        </a:spcBef>
                        <a:spcAft>
                          <a:spcPts val="0"/>
                        </a:spcAft>
                        <a:buClr>
                          <a:schemeClr val="dk1"/>
                        </a:buClr>
                        <a:buSzPts val="1100"/>
                        <a:buFont typeface="Arial"/>
                        <a:buNone/>
                      </a:pPr>
                      <a:r>
                        <a:rPr lang="en-US" sz="1800">
                          <a:solidFill>
                            <a:schemeClr val="dk1"/>
                          </a:solidFill>
                        </a:rPr>
                        <a:t>Logging Failures</a:t>
                      </a:r>
                      <a:endParaRPr sz="1800">
                        <a:solidFill>
                          <a:schemeClr val="dk1"/>
                        </a:solidFill>
                      </a:endParaRPr>
                    </a:p>
                    <a:p>
                      <a:pPr indent="0" lvl="0" marL="0" rtl="0" algn="ctr">
                        <a:spcBef>
                          <a:spcPts val="0"/>
                        </a:spcBef>
                        <a:spcAft>
                          <a:spcPts val="0"/>
                        </a:spcAft>
                        <a:buClr>
                          <a:schemeClr val="dk1"/>
                        </a:buClr>
                        <a:buSzPts val="1100"/>
                        <a:buFont typeface="Arial"/>
                        <a:buNone/>
                      </a:pPr>
                      <a:r>
                        <a:rPr lang="en-US" sz="1800">
                          <a:solidFill>
                            <a:schemeClr val="dk1"/>
                          </a:solidFill>
                        </a:rPr>
                        <a:t>Improper Error Messages</a:t>
                      </a:r>
                      <a:endParaRPr sz="1800">
                        <a:solidFill>
                          <a:schemeClr val="dk1"/>
                        </a:solidFill>
                      </a:endParaRPr>
                    </a:p>
                    <a:p>
                      <a:pPr indent="0" lvl="0" marL="0" marR="0" rtl="0" algn="ctr">
                        <a:lnSpc>
                          <a:spcPct val="100000"/>
                        </a:lnSpc>
                        <a:spcBef>
                          <a:spcPts val="0"/>
                        </a:spcBef>
                        <a:spcAft>
                          <a:spcPts val="0"/>
                        </a:spcAft>
                        <a:buClr>
                          <a:srgbClr val="000000"/>
                        </a:buClr>
                        <a:buSzPts val="3600"/>
                        <a:buFont typeface="Arial"/>
                        <a:buNone/>
                      </a:pPr>
                      <a:r>
                        <a:rPr lang="en-US" sz="1800">
                          <a:solidFill>
                            <a:schemeClr val="dk1"/>
                          </a:solidFill>
                        </a:rPr>
                        <a:t>Minor Memory Leaks</a:t>
                      </a:r>
                      <a:endParaRPr sz="1800">
                        <a:solidFill>
                          <a:schemeClr val="dk1"/>
                        </a:solidFill>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3600"/>
                        <a:buFont typeface="Arial"/>
                        <a:buNone/>
                      </a:pPr>
                      <a:r>
                        <a:rPr lang="en-US" sz="3600" cap="none" strike="noStrike">
                          <a:solidFill>
                            <a:srgbClr val="F1C232"/>
                          </a:solidFill>
                        </a:rPr>
                        <a:t>Unlikely</a:t>
                      </a:r>
                      <a:endParaRPr sz="1400" cap="none" strike="noStrike">
                        <a:solidFill>
                          <a:srgbClr val="F1C232"/>
                        </a:solidFill>
                      </a:endParaRPr>
                    </a:p>
                    <a:p>
                      <a:pPr indent="0" lvl="0" marL="0" rtl="0" algn="ctr">
                        <a:spcBef>
                          <a:spcPts val="0"/>
                        </a:spcBef>
                        <a:spcAft>
                          <a:spcPts val="0"/>
                        </a:spcAft>
                        <a:buClr>
                          <a:schemeClr val="dk1"/>
                        </a:buClr>
                        <a:buSzPts val="1100"/>
                        <a:buFont typeface="Arial"/>
                        <a:buNone/>
                      </a:pPr>
                      <a:r>
                        <a:rPr lang="en-US" sz="1800">
                          <a:solidFill>
                            <a:schemeClr val="dk1"/>
                          </a:solidFill>
                        </a:rPr>
                        <a:t>Insecure Deserialization</a:t>
                      </a:r>
                      <a:endParaRPr sz="1800">
                        <a:solidFill>
                          <a:schemeClr val="dk1"/>
                        </a:solidFill>
                      </a:endParaRPr>
                    </a:p>
                    <a:p>
                      <a:pPr indent="0" lvl="0" marL="0" marR="0" rtl="0" algn="ctr">
                        <a:lnSpc>
                          <a:spcPct val="100000"/>
                        </a:lnSpc>
                        <a:spcBef>
                          <a:spcPts val="0"/>
                        </a:spcBef>
                        <a:spcAft>
                          <a:spcPts val="0"/>
                        </a:spcAft>
                        <a:buClr>
                          <a:srgbClr val="000000"/>
                        </a:buClr>
                        <a:buSzPts val="3600"/>
                        <a:buFont typeface="Arial"/>
                        <a:buNone/>
                      </a:pPr>
                      <a:r>
                        <a:rPr lang="en-US" sz="1800">
                          <a:solidFill>
                            <a:schemeClr val="dk1"/>
                          </a:solidFill>
                        </a:rPr>
                        <a:t>Advanced Privilege Escalation via Rare Edge Cases</a:t>
                      </a:r>
                      <a:endParaRPr sz="1800">
                        <a:solidFill>
                          <a:schemeClr val="dk1"/>
                        </a:solidFill>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bl>
          </a:graphicData>
        </a:graphic>
      </p:graphicFrame>
      <p:pic>
        <p:nvPicPr>
          <p:cNvPr descr="Green Pace logo" id="162" name="Google Shape;162;p4"/>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fontScale="85000" lnSpcReduction="20000"/>
          </a:bodyPr>
          <a:lstStyle/>
          <a:p>
            <a:pPr indent="-325755" lvl="0" marL="457200" rtl="0" algn="l">
              <a:lnSpc>
                <a:spcPct val="90000"/>
              </a:lnSpc>
              <a:spcBef>
                <a:spcPts val="0"/>
              </a:spcBef>
              <a:spcAft>
                <a:spcPts val="0"/>
              </a:spcAft>
              <a:buClr>
                <a:srgbClr val="FFFFFF"/>
              </a:buClr>
              <a:buSzPct val="81818"/>
              <a:buAutoNum type="arabicPeriod"/>
            </a:pPr>
            <a:r>
              <a:rPr lang="en-US">
                <a:solidFill>
                  <a:srgbClr val="FFFFFF"/>
                </a:solidFill>
              </a:rPr>
              <a:t>Least Privilege</a:t>
            </a:r>
            <a:endParaRPr>
              <a:solidFill>
                <a:srgbClr val="FFFFFF"/>
              </a:solidFill>
            </a:endParaRPr>
          </a:p>
          <a:p>
            <a:pPr indent="0" lvl="0" marL="914400" rtl="0" algn="l">
              <a:lnSpc>
                <a:spcPct val="90000"/>
              </a:lnSpc>
              <a:spcBef>
                <a:spcPts val="0"/>
              </a:spcBef>
              <a:spcAft>
                <a:spcPts val="0"/>
              </a:spcAft>
              <a:buNone/>
            </a:pPr>
            <a:r>
              <a:t/>
            </a:r>
            <a:endParaRPr>
              <a:solidFill>
                <a:srgbClr val="FFFFFF"/>
              </a:solidFill>
            </a:endParaRPr>
          </a:p>
          <a:p>
            <a:pPr indent="-325755" lvl="0" marL="457200" rtl="0" algn="l">
              <a:lnSpc>
                <a:spcPct val="90000"/>
              </a:lnSpc>
              <a:spcBef>
                <a:spcPts val="0"/>
              </a:spcBef>
              <a:spcAft>
                <a:spcPts val="0"/>
              </a:spcAft>
              <a:buClr>
                <a:srgbClr val="FFFFFF"/>
              </a:buClr>
              <a:buSzPct val="81818"/>
              <a:buAutoNum type="arabicPeriod"/>
            </a:pPr>
            <a:r>
              <a:rPr lang="en-US">
                <a:solidFill>
                  <a:srgbClr val="FFFFFF"/>
                </a:solidFill>
              </a:rPr>
              <a:t>Defense in Depth</a:t>
            </a:r>
            <a:endParaRPr>
              <a:solidFill>
                <a:srgbClr val="FFFFFF"/>
              </a:solidFill>
            </a:endParaRPr>
          </a:p>
          <a:p>
            <a:pPr indent="0" lvl="0" marL="914400" rtl="0" algn="l">
              <a:lnSpc>
                <a:spcPct val="90000"/>
              </a:lnSpc>
              <a:spcBef>
                <a:spcPts val="0"/>
              </a:spcBef>
              <a:spcAft>
                <a:spcPts val="0"/>
              </a:spcAft>
              <a:buNone/>
            </a:pPr>
            <a:r>
              <a:t/>
            </a:r>
            <a:endParaRPr>
              <a:solidFill>
                <a:srgbClr val="FFFFFF"/>
              </a:solidFill>
            </a:endParaRPr>
          </a:p>
          <a:p>
            <a:pPr indent="-325755" lvl="0" marL="457200" rtl="0" algn="l">
              <a:lnSpc>
                <a:spcPct val="90000"/>
              </a:lnSpc>
              <a:spcBef>
                <a:spcPts val="0"/>
              </a:spcBef>
              <a:spcAft>
                <a:spcPts val="0"/>
              </a:spcAft>
              <a:buClr>
                <a:srgbClr val="FFFFFF"/>
              </a:buClr>
              <a:buSzPct val="81818"/>
              <a:buAutoNum type="arabicPeriod"/>
            </a:pPr>
            <a:r>
              <a:rPr lang="en-US">
                <a:solidFill>
                  <a:srgbClr val="FFFFFF"/>
                </a:solidFill>
              </a:rPr>
              <a:t>Fail Secure</a:t>
            </a:r>
            <a:endParaRPr>
              <a:solidFill>
                <a:srgbClr val="FFFFFF"/>
              </a:solidFill>
            </a:endParaRPr>
          </a:p>
          <a:p>
            <a:pPr indent="0" lvl="0" marL="914400" rtl="0" algn="l">
              <a:lnSpc>
                <a:spcPct val="90000"/>
              </a:lnSpc>
              <a:spcBef>
                <a:spcPts val="0"/>
              </a:spcBef>
              <a:spcAft>
                <a:spcPts val="0"/>
              </a:spcAft>
              <a:buNone/>
            </a:pPr>
            <a:r>
              <a:t/>
            </a:r>
            <a:endParaRPr>
              <a:solidFill>
                <a:srgbClr val="FFFFFF"/>
              </a:solidFill>
            </a:endParaRPr>
          </a:p>
          <a:p>
            <a:pPr indent="-325755" lvl="0" marL="457200" rtl="0" algn="l">
              <a:lnSpc>
                <a:spcPct val="90000"/>
              </a:lnSpc>
              <a:spcBef>
                <a:spcPts val="0"/>
              </a:spcBef>
              <a:spcAft>
                <a:spcPts val="0"/>
              </a:spcAft>
              <a:buClr>
                <a:srgbClr val="FFFFFF"/>
              </a:buClr>
              <a:buSzPct val="81818"/>
              <a:buAutoNum type="arabicPeriod"/>
            </a:pPr>
            <a:r>
              <a:rPr lang="en-US">
                <a:solidFill>
                  <a:srgbClr val="FFFFFF"/>
                </a:solidFill>
              </a:rPr>
              <a:t>Secure by Default</a:t>
            </a:r>
            <a:endParaRPr>
              <a:solidFill>
                <a:srgbClr val="FFFFFF"/>
              </a:solidFill>
            </a:endParaRPr>
          </a:p>
          <a:p>
            <a:pPr indent="0" lvl="0" marL="914400" rtl="0" algn="l">
              <a:lnSpc>
                <a:spcPct val="90000"/>
              </a:lnSpc>
              <a:spcBef>
                <a:spcPts val="0"/>
              </a:spcBef>
              <a:spcAft>
                <a:spcPts val="0"/>
              </a:spcAft>
              <a:buNone/>
            </a:pPr>
            <a:r>
              <a:t/>
            </a:r>
            <a:endParaRPr>
              <a:solidFill>
                <a:srgbClr val="FFFFFF"/>
              </a:solidFill>
            </a:endParaRPr>
          </a:p>
          <a:p>
            <a:pPr indent="-325755" lvl="0" marL="457200" rtl="0" algn="l">
              <a:lnSpc>
                <a:spcPct val="90000"/>
              </a:lnSpc>
              <a:spcBef>
                <a:spcPts val="0"/>
              </a:spcBef>
              <a:spcAft>
                <a:spcPts val="0"/>
              </a:spcAft>
              <a:buClr>
                <a:srgbClr val="FFFFFF"/>
              </a:buClr>
              <a:buSzPct val="81818"/>
              <a:buAutoNum type="arabicPeriod"/>
            </a:pPr>
            <a:r>
              <a:rPr lang="en-US">
                <a:solidFill>
                  <a:srgbClr val="FFFFFF"/>
                </a:solidFill>
              </a:rPr>
              <a:t>Input Validation</a:t>
            </a:r>
            <a:endParaRPr>
              <a:solidFill>
                <a:srgbClr val="FFFFFF"/>
              </a:solidFill>
            </a:endParaRPr>
          </a:p>
          <a:p>
            <a:pPr indent="0" lvl="0" marL="914400" rtl="0" algn="l">
              <a:lnSpc>
                <a:spcPct val="90000"/>
              </a:lnSpc>
              <a:spcBef>
                <a:spcPts val="0"/>
              </a:spcBef>
              <a:spcAft>
                <a:spcPts val="0"/>
              </a:spcAft>
              <a:buNone/>
            </a:pPr>
            <a:r>
              <a:t/>
            </a:r>
            <a:endParaRPr>
              <a:solidFill>
                <a:srgbClr val="FFFFFF"/>
              </a:solidFill>
            </a:endParaRPr>
          </a:p>
          <a:p>
            <a:pPr indent="-325755" lvl="0" marL="457200" rtl="0" algn="l">
              <a:lnSpc>
                <a:spcPct val="90000"/>
              </a:lnSpc>
              <a:spcBef>
                <a:spcPts val="0"/>
              </a:spcBef>
              <a:spcAft>
                <a:spcPts val="0"/>
              </a:spcAft>
              <a:buClr>
                <a:srgbClr val="FFFFFF"/>
              </a:buClr>
              <a:buSzPct val="81818"/>
              <a:buAutoNum type="arabicPeriod"/>
            </a:pPr>
            <a:r>
              <a:rPr lang="en-US">
                <a:solidFill>
                  <a:srgbClr val="FFFFFF"/>
                </a:solidFill>
              </a:rPr>
              <a:t>Separation of Duties</a:t>
            </a:r>
            <a:endParaRPr>
              <a:solidFill>
                <a:srgbClr val="FFFFFF"/>
              </a:solidFill>
            </a:endParaRPr>
          </a:p>
          <a:p>
            <a:pPr indent="0" lvl="0" marL="914400" rtl="0" algn="l">
              <a:lnSpc>
                <a:spcPct val="90000"/>
              </a:lnSpc>
              <a:spcBef>
                <a:spcPts val="0"/>
              </a:spcBef>
              <a:spcAft>
                <a:spcPts val="0"/>
              </a:spcAft>
              <a:buNone/>
            </a:pPr>
            <a:r>
              <a:t/>
            </a:r>
            <a:endParaRPr>
              <a:solidFill>
                <a:srgbClr val="FFFFFF"/>
              </a:solidFill>
            </a:endParaRPr>
          </a:p>
          <a:p>
            <a:pPr indent="-325755" lvl="0" marL="457200" rtl="0" algn="l">
              <a:lnSpc>
                <a:spcPct val="90000"/>
              </a:lnSpc>
              <a:spcBef>
                <a:spcPts val="0"/>
              </a:spcBef>
              <a:spcAft>
                <a:spcPts val="0"/>
              </a:spcAft>
              <a:buClr>
                <a:srgbClr val="FFFFFF"/>
              </a:buClr>
              <a:buSzPct val="81818"/>
              <a:buAutoNum type="arabicPeriod"/>
            </a:pPr>
            <a:r>
              <a:rPr lang="en-US">
                <a:solidFill>
                  <a:srgbClr val="FFFFFF"/>
                </a:solidFill>
              </a:rPr>
              <a:t>Minimize Attack Surface</a:t>
            </a:r>
            <a:endParaRPr>
              <a:solidFill>
                <a:srgbClr val="FFFFFF"/>
              </a:solidFill>
            </a:endParaRPr>
          </a:p>
          <a:p>
            <a:pPr indent="0" lvl="0" marL="914400" rtl="0" algn="l">
              <a:lnSpc>
                <a:spcPct val="90000"/>
              </a:lnSpc>
              <a:spcBef>
                <a:spcPts val="0"/>
              </a:spcBef>
              <a:spcAft>
                <a:spcPts val="0"/>
              </a:spcAft>
              <a:buNone/>
            </a:pPr>
            <a:r>
              <a:t/>
            </a:r>
            <a:endParaRPr>
              <a:solidFill>
                <a:srgbClr val="FFFFFF"/>
              </a:solidFill>
            </a:endParaRPr>
          </a:p>
          <a:p>
            <a:pPr indent="-325755" lvl="0" marL="457200" rtl="0" algn="l">
              <a:lnSpc>
                <a:spcPct val="90000"/>
              </a:lnSpc>
              <a:spcBef>
                <a:spcPts val="0"/>
              </a:spcBef>
              <a:spcAft>
                <a:spcPts val="0"/>
              </a:spcAft>
              <a:buClr>
                <a:srgbClr val="FFFFFF"/>
              </a:buClr>
              <a:buSzPct val="81818"/>
              <a:buAutoNum type="arabicPeriod"/>
            </a:pPr>
            <a:r>
              <a:rPr lang="en-US">
                <a:solidFill>
                  <a:srgbClr val="FFFFFF"/>
                </a:solidFill>
              </a:rPr>
              <a:t>Assume Breach</a:t>
            </a:r>
            <a:endParaRPr>
              <a:solidFill>
                <a:srgbClr val="FFFFFF"/>
              </a:solidFill>
            </a:endParaRPr>
          </a:p>
          <a:p>
            <a:pPr indent="0" lvl="0" marL="914400" rtl="0" algn="l">
              <a:lnSpc>
                <a:spcPct val="90000"/>
              </a:lnSpc>
              <a:spcBef>
                <a:spcPts val="0"/>
              </a:spcBef>
              <a:spcAft>
                <a:spcPts val="0"/>
              </a:spcAft>
              <a:buNone/>
            </a:pPr>
            <a:r>
              <a:t/>
            </a:r>
            <a:endParaRPr>
              <a:solidFill>
                <a:srgbClr val="FFFFFF"/>
              </a:solidFill>
            </a:endParaRPr>
          </a:p>
          <a:p>
            <a:pPr indent="-325755" lvl="0" marL="457200" rtl="0" algn="l">
              <a:lnSpc>
                <a:spcPct val="90000"/>
              </a:lnSpc>
              <a:spcBef>
                <a:spcPts val="0"/>
              </a:spcBef>
              <a:spcAft>
                <a:spcPts val="0"/>
              </a:spcAft>
              <a:buClr>
                <a:srgbClr val="FFFFFF"/>
              </a:buClr>
              <a:buSzPct val="81818"/>
              <a:buAutoNum type="arabicPeriod"/>
            </a:pPr>
            <a:r>
              <a:rPr lang="en-US">
                <a:solidFill>
                  <a:srgbClr val="FFFFFF"/>
                </a:solidFill>
              </a:rPr>
              <a:t>Encrypt Sensitive Data</a:t>
            </a:r>
            <a:endParaRPr>
              <a:solidFill>
                <a:srgbClr val="FFFFFF"/>
              </a:solidFill>
            </a:endParaRPr>
          </a:p>
          <a:p>
            <a:pPr indent="0" lvl="0" marL="914400" rtl="0" algn="l">
              <a:lnSpc>
                <a:spcPct val="90000"/>
              </a:lnSpc>
              <a:spcBef>
                <a:spcPts val="0"/>
              </a:spcBef>
              <a:spcAft>
                <a:spcPts val="0"/>
              </a:spcAft>
              <a:buNone/>
            </a:pPr>
            <a:r>
              <a:t/>
            </a:r>
            <a:endParaRPr>
              <a:solidFill>
                <a:srgbClr val="FFFFFF"/>
              </a:solidFill>
            </a:endParaRPr>
          </a:p>
          <a:p>
            <a:pPr indent="-325755" lvl="0" marL="457200" rtl="0" algn="l">
              <a:lnSpc>
                <a:spcPct val="90000"/>
              </a:lnSpc>
              <a:spcBef>
                <a:spcPts val="0"/>
              </a:spcBef>
              <a:spcAft>
                <a:spcPts val="0"/>
              </a:spcAft>
              <a:buClr>
                <a:srgbClr val="FFFFFF"/>
              </a:buClr>
              <a:buSzPct val="81818"/>
              <a:buAutoNum type="arabicPeriod"/>
            </a:pPr>
            <a:r>
              <a:rPr lang="en-US">
                <a:solidFill>
                  <a:srgbClr val="FFFFFF"/>
                </a:solidFill>
              </a:rPr>
              <a:t>Continuous Monitoring</a:t>
            </a:r>
            <a:endParaRPr>
              <a:solidFill>
                <a:srgbClr val="FFFFFF"/>
              </a:solidFill>
            </a:endParaRPr>
          </a:p>
        </p:txBody>
      </p:sp>
      <p:pic>
        <p:nvPicPr>
          <p:cNvPr descr="Green Pace logo" id="169" name="Google Shape;169;p5"/>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6"/>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SzPct val="100000"/>
              <a:buAutoNum type="arabicPeriod"/>
            </a:pPr>
            <a:r>
              <a:rPr lang="en-US" sz="2000"/>
              <a:t>Strict Input Validation</a:t>
            </a:r>
            <a:br>
              <a:rPr lang="en-US" sz="2000"/>
            </a:br>
            <a:endParaRPr sz="2000"/>
          </a:p>
          <a:p>
            <a:pPr indent="-336550" lvl="0" marL="457200" rtl="0" algn="l">
              <a:spcBef>
                <a:spcPts val="0"/>
              </a:spcBef>
              <a:spcAft>
                <a:spcPts val="0"/>
              </a:spcAft>
              <a:buSzPct val="100000"/>
              <a:buAutoNum type="arabicPeriod"/>
            </a:pPr>
            <a:r>
              <a:rPr lang="en-US" sz="2000"/>
              <a:t>Memory Safety Enforcement</a:t>
            </a:r>
            <a:br>
              <a:rPr lang="en-US" sz="2000"/>
            </a:br>
            <a:endParaRPr sz="2000"/>
          </a:p>
          <a:p>
            <a:pPr indent="-336550" lvl="0" marL="457200" rtl="0" algn="l">
              <a:spcBef>
                <a:spcPts val="0"/>
              </a:spcBef>
              <a:spcAft>
                <a:spcPts val="0"/>
              </a:spcAft>
              <a:buSzPct val="100000"/>
              <a:buAutoNum type="arabicPeriod"/>
            </a:pPr>
            <a:r>
              <a:rPr lang="en-US" sz="2000"/>
              <a:t>Authentication Enforcement</a:t>
            </a:r>
            <a:br>
              <a:rPr lang="en-US" sz="2000"/>
            </a:br>
            <a:endParaRPr sz="2000"/>
          </a:p>
          <a:p>
            <a:pPr indent="-336550" lvl="0" marL="457200" rtl="0" algn="l">
              <a:spcBef>
                <a:spcPts val="0"/>
              </a:spcBef>
              <a:spcAft>
                <a:spcPts val="0"/>
              </a:spcAft>
              <a:buSzPct val="100000"/>
              <a:buAutoNum type="arabicPeriod"/>
            </a:pPr>
            <a:r>
              <a:rPr lang="en-US" sz="2000"/>
              <a:t>Authorization Checks</a:t>
            </a:r>
            <a:br>
              <a:rPr lang="en-US" sz="2000"/>
            </a:br>
            <a:endParaRPr sz="2000"/>
          </a:p>
          <a:p>
            <a:pPr indent="-336550" lvl="0" marL="457200" rtl="0" algn="l">
              <a:spcBef>
                <a:spcPts val="0"/>
              </a:spcBef>
              <a:spcAft>
                <a:spcPts val="0"/>
              </a:spcAft>
              <a:buSzPct val="100000"/>
              <a:buAutoNum type="arabicPeriod"/>
            </a:pPr>
            <a:r>
              <a:rPr lang="en-US" sz="2000"/>
              <a:t>Secure Error Handling</a:t>
            </a:r>
            <a:br>
              <a:rPr lang="en-US" sz="2000"/>
            </a:br>
            <a:endParaRPr sz="2000"/>
          </a:p>
          <a:p>
            <a:pPr indent="-336550" lvl="0" marL="457200" rtl="0" algn="l">
              <a:spcBef>
                <a:spcPts val="0"/>
              </a:spcBef>
              <a:spcAft>
                <a:spcPts val="0"/>
              </a:spcAft>
              <a:buSzPct val="100000"/>
              <a:buAutoNum type="arabicPeriod"/>
            </a:pPr>
            <a:r>
              <a:rPr lang="en-US" sz="2000"/>
              <a:t>Encryption for Sensitive Data</a:t>
            </a:r>
            <a:br>
              <a:rPr lang="en-US" sz="2000"/>
            </a:br>
            <a:endParaRPr sz="2000"/>
          </a:p>
          <a:p>
            <a:pPr indent="-336550" lvl="0" marL="457200" rtl="0" algn="l">
              <a:spcBef>
                <a:spcPts val="0"/>
              </a:spcBef>
              <a:spcAft>
                <a:spcPts val="0"/>
              </a:spcAft>
              <a:buSzPct val="100000"/>
              <a:buAutoNum type="arabicPeriod"/>
            </a:pPr>
            <a:r>
              <a:rPr lang="en-US" sz="2000"/>
              <a:t>No Hardcoded Secrets</a:t>
            </a:r>
            <a:br>
              <a:rPr lang="en-US" sz="2000"/>
            </a:br>
            <a:endParaRPr sz="2000"/>
          </a:p>
          <a:p>
            <a:pPr indent="-336550" lvl="0" marL="457200" rtl="0" algn="l">
              <a:spcBef>
                <a:spcPts val="0"/>
              </a:spcBef>
              <a:spcAft>
                <a:spcPts val="0"/>
              </a:spcAft>
              <a:buSzPct val="100000"/>
              <a:buAutoNum type="arabicPeriod"/>
            </a:pPr>
            <a:r>
              <a:rPr lang="en-US" sz="2000"/>
              <a:t>Secure Logging</a:t>
            </a:r>
            <a:br>
              <a:rPr lang="en-US" sz="2000"/>
            </a:br>
            <a:endParaRPr sz="2000"/>
          </a:p>
          <a:p>
            <a:pPr indent="-336550" lvl="0" marL="457200" rtl="0" algn="l">
              <a:spcBef>
                <a:spcPts val="0"/>
              </a:spcBef>
              <a:spcAft>
                <a:spcPts val="0"/>
              </a:spcAft>
              <a:buSzPct val="100000"/>
              <a:buAutoNum type="arabicPeriod"/>
            </a:pPr>
            <a:r>
              <a:rPr lang="en-US" sz="2000"/>
              <a:t>Dependency Management</a:t>
            </a:r>
            <a:br>
              <a:rPr lang="en-US" sz="2000"/>
            </a:br>
            <a:endParaRPr sz="2000"/>
          </a:p>
          <a:p>
            <a:pPr indent="-336550" lvl="0" marL="457200" rtl="0" algn="l">
              <a:spcBef>
                <a:spcPts val="0"/>
              </a:spcBef>
              <a:spcAft>
                <a:spcPts val="0"/>
              </a:spcAft>
              <a:buSzPct val="100000"/>
              <a:buAutoNum type="arabicPeriod"/>
            </a:pPr>
            <a:r>
              <a:rPr lang="en-US" sz="2000"/>
              <a:t>Mandatory Code Review</a:t>
            </a:r>
            <a:endParaRPr sz="2000"/>
          </a:p>
          <a:p>
            <a:pPr indent="0" lvl="0" marL="457200" rtl="0" algn="l">
              <a:lnSpc>
                <a:spcPct val="90000"/>
              </a:lnSpc>
              <a:spcBef>
                <a:spcPts val="0"/>
              </a:spcBef>
              <a:spcAft>
                <a:spcPts val="0"/>
              </a:spcAft>
              <a:buNone/>
            </a:pPr>
            <a:r>
              <a:t/>
            </a:r>
            <a:endParaRPr sz="2000"/>
          </a:p>
        </p:txBody>
      </p:sp>
      <p:pic>
        <p:nvPicPr>
          <p:cNvPr descr="Green Pace logo" id="176" name="Google Shape;176;p6"/>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p:nvPr>
            <p:ph idx="1" type="body"/>
          </p:nvPr>
        </p:nvSpPr>
        <p:spPr>
          <a:xfrm>
            <a:off x="685800" y="2194560"/>
            <a:ext cx="10820400" cy="4024200"/>
          </a:xfrm>
          <a:prstGeom prst="rect">
            <a:avLst/>
          </a:prstGeom>
          <a:noFill/>
          <a:ln>
            <a:noFill/>
          </a:ln>
        </p:spPr>
        <p:txBody>
          <a:bodyPr anchorCtr="0" anchor="t" bIns="45700" lIns="91425" spcFirstLastPara="1" rIns="91425" wrap="square" tIns="45700">
            <a:normAutofit lnSpcReduction="20000"/>
          </a:bodyPr>
          <a:lstStyle/>
          <a:p>
            <a:pPr indent="-88900" lvl="0" marL="228600" rtl="0" algn="l">
              <a:lnSpc>
                <a:spcPct val="90000"/>
              </a:lnSpc>
              <a:spcBef>
                <a:spcPts val="1000"/>
              </a:spcBef>
              <a:spcAft>
                <a:spcPts val="0"/>
              </a:spcAft>
              <a:buClr>
                <a:schemeClr val="lt1"/>
              </a:buClr>
              <a:buSzPts val="2200"/>
              <a:buNone/>
            </a:pPr>
            <a:r>
              <a:rPr lang="en-US" sz="2000"/>
              <a:t>Encryption in Flight:</a:t>
            </a:r>
            <a:endParaRPr sz="2000"/>
          </a:p>
          <a:p>
            <a:pPr indent="-88900" lvl="0" marL="228600" rtl="0" algn="l">
              <a:lnSpc>
                <a:spcPct val="90000"/>
              </a:lnSpc>
              <a:spcBef>
                <a:spcPts val="1000"/>
              </a:spcBef>
              <a:spcAft>
                <a:spcPts val="0"/>
              </a:spcAft>
              <a:buClr>
                <a:schemeClr val="lt1"/>
              </a:buClr>
              <a:buSzPts val="2200"/>
              <a:buNone/>
            </a:pPr>
            <a:r>
              <a:rPr lang="en-US" sz="2000"/>
              <a:t>• TLS 1.2+</a:t>
            </a:r>
            <a:endParaRPr sz="2000"/>
          </a:p>
          <a:p>
            <a:pPr indent="-88900" lvl="0" marL="228600" rtl="0" algn="l">
              <a:lnSpc>
                <a:spcPct val="90000"/>
              </a:lnSpc>
              <a:spcBef>
                <a:spcPts val="1000"/>
              </a:spcBef>
              <a:spcAft>
                <a:spcPts val="0"/>
              </a:spcAft>
              <a:buClr>
                <a:schemeClr val="lt1"/>
              </a:buClr>
              <a:buSzPts val="2200"/>
              <a:buNone/>
            </a:pPr>
            <a:r>
              <a:t/>
            </a:r>
            <a:endParaRPr sz="2000"/>
          </a:p>
          <a:p>
            <a:pPr indent="-88900" lvl="0" marL="228600" rtl="0" algn="l">
              <a:lnSpc>
                <a:spcPct val="90000"/>
              </a:lnSpc>
              <a:spcBef>
                <a:spcPts val="1000"/>
              </a:spcBef>
              <a:spcAft>
                <a:spcPts val="0"/>
              </a:spcAft>
              <a:buClr>
                <a:schemeClr val="lt1"/>
              </a:buClr>
              <a:buSzPts val="2200"/>
              <a:buNone/>
            </a:pPr>
            <a:r>
              <a:rPr lang="en-US" sz="2000"/>
              <a:t>Encryption at Rest:</a:t>
            </a:r>
            <a:endParaRPr sz="2000"/>
          </a:p>
          <a:p>
            <a:pPr indent="-88900" lvl="0" marL="228600" rtl="0" algn="l">
              <a:lnSpc>
                <a:spcPct val="90000"/>
              </a:lnSpc>
              <a:spcBef>
                <a:spcPts val="1000"/>
              </a:spcBef>
              <a:spcAft>
                <a:spcPts val="0"/>
              </a:spcAft>
              <a:buClr>
                <a:schemeClr val="lt1"/>
              </a:buClr>
              <a:buSzPts val="2200"/>
              <a:buNone/>
            </a:pPr>
            <a:r>
              <a:rPr lang="en-US" sz="2000"/>
              <a:t>• AES-256</a:t>
            </a:r>
            <a:endParaRPr sz="2000"/>
          </a:p>
          <a:p>
            <a:pPr indent="-88900" lvl="0" marL="228600" rtl="0" algn="l">
              <a:lnSpc>
                <a:spcPct val="90000"/>
              </a:lnSpc>
              <a:spcBef>
                <a:spcPts val="1000"/>
              </a:spcBef>
              <a:spcAft>
                <a:spcPts val="0"/>
              </a:spcAft>
              <a:buClr>
                <a:schemeClr val="lt1"/>
              </a:buClr>
              <a:buSzPts val="2200"/>
              <a:buNone/>
            </a:pPr>
            <a:r>
              <a:t/>
            </a:r>
            <a:endParaRPr sz="2000"/>
          </a:p>
          <a:p>
            <a:pPr indent="-88900" lvl="0" marL="228600" rtl="0" algn="l">
              <a:lnSpc>
                <a:spcPct val="90000"/>
              </a:lnSpc>
              <a:spcBef>
                <a:spcPts val="1000"/>
              </a:spcBef>
              <a:spcAft>
                <a:spcPts val="0"/>
              </a:spcAft>
              <a:buClr>
                <a:schemeClr val="lt1"/>
              </a:buClr>
              <a:buSzPts val="2200"/>
              <a:buNone/>
            </a:pPr>
            <a:r>
              <a:rPr lang="en-US" sz="2000"/>
              <a:t>Encryption in Use:</a:t>
            </a:r>
            <a:endParaRPr sz="2000"/>
          </a:p>
          <a:p>
            <a:pPr indent="-88900" lvl="0" marL="228600" rtl="0" algn="l">
              <a:lnSpc>
                <a:spcPct val="90000"/>
              </a:lnSpc>
              <a:spcBef>
                <a:spcPts val="1000"/>
              </a:spcBef>
              <a:spcAft>
                <a:spcPts val="0"/>
              </a:spcAft>
              <a:buClr>
                <a:schemeClr val="lt1"/>
              </a:buClr>
              <a:buSzPts val="2200"/>
              <a:buNone/>
            </a:pPr>
            <a:r>
              <a:rPr lang="en-US" sz="2000"/>
              <a:t>• Secure key management</a:t>
            </a:r>
            <a:endParaRPr sz="2000"/>
          </a:p>
          <a:p>
            <a:pPr indent="-88900" lvl="0" marL="228600" rtl="0" algn="l">
              <a:lnSpc>
                <a:spcPct val="90000"/>
              </a:lnSpc>
              <a:spcBef>
                <a:spcPts val="1000"/>
              </a:spcBef>
              <a:spcAft>
                <a:spcPts val="0"/>
              </a:spcAft>
              <a:buClr>
                <a:schemeClr val="lt1"/>
              </a:buClr>
              <a:buSzPts val="2200"/>
              <a:buNone/>
            </a:pPr>
            <a:r>
              <a:rPr lang="en-US" sz="2000"/>
              <a:t>• Protected memory handling</a:t>
            </a:r>
            <a:endParaRPr sz="2000"/>
          </a:p>
          <a:p>
            <a:pPr indent="-88900" lvl="0" marL="228600" rtl="0" algn="l">
              <a:lnSpc>
                <a:spcPct val="90000"/>
              </a:lnSpc>
              <a:spcBef>
                <a:spcPts val="1000"/>
              </a:spcBef>
              <a:spcAft>
                <a:spcPts val="0"/>
              </a:spcAft>
              <a:buClr>
                <a:schemeClr val="lt1"/>
              </a:buClr>
              <a:buSzPts val="2200"/>
              <a:buNone/>
            </a:pPr>
            <a:r>
              <a:t/>
            </a:r>
            <a:endParaRPr sz="2000"/>
          </a:p>
          <a:p>
            <a:pPr indent="-88900" lvl="0" marL="228600" rtl="0" algn="l">
              <a:lnSpc>
                <a:spcPct val="90000"/>
              </a:lnSpc>
              <a:spcBef>
                <a:spcPts val="1000"/>
              </a:spcBef>
              <a:spcAft>
                <a:spcPts val="0"/>
              </a:spcAft>
              <a:buClr>
                <a:schemeClr val="lt1"/>
              </a:buClr>
              <a:buSzPts val="2200"/>
              <a:buNone/>
            </a:pPr>
            <a:r>
              <a:rPr lang="en-US" sz="2000"/>
              <a:t>No plaintext secret storage.</a:t>
            </a:r>
            <a:endParaRPr sz="2000"/>
          </a:p>
        </p:txBody>
      </p:sp>
      <p:pic>
        <p:nvPicPr>
          <p:cNvPr descr="Green Pace logo" id="183" name="Google Shape;183;p7"/>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Authentication:</a:t>
            </a:r>
            <a:endParaRPr/>
          </a:p>
          <a:p>
            <a:pPr indent="0" lvl="0" marL="0" rtl="0" algn="l">
              <a:lnSpc>
                <a:spcPct val="90000"/>
              </a:lnSpc>
              <a:spcBef>
                <a:spcPts val="0"/>
              </a:spcBef>
              <a:spcAft>
                <a:spcPts val="0"/>
              </a:spcAft>
              <a:buNone/>
            </a:pPr>
            <a:r>
              <a:rPr lang="en-US"/>
              <a:t>• Multi-factor authentication</a:t>
            </a:r>
            <a:endParaRPr/>
          </a:p>
          <a:p>
            <a:pPr indent="0" lvl="0" marL="0" rtl="0" algn="l">
              <a:lnSpc>
                <a:spcPct val="90000"/>
              </a:lnSpc>
              <a:spcBef>
                <a:spcPts val="0"/>
              </a:spcBef>
              <a:spcAft>
                <a:spcPts val="0"/>
              </a:spcAft>
              <a:buNone/>
            </a:pPr>
            <a:r>
              <a:rPr lang="en-US"/>
              <a:t>• Hashed passwords (bcrypt)</a:t>
            </a:r>
            <a:endParaRPr/>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rPr lang="en-US"/>
              <a:t>Authorization:</a:t>
            </a:r>
            <a:endParaRPr/>
          </a:p>
          <a:p>
            <a:pPr indent="0" lvl="0" marL="0" rtl="0" algn="l">
              <a:lnSpc>
                <a:spcPct val="90000"/>
              </a:lnSpc>
              <a:spcBef>
                <a:spcPts val="0"/>
              </a:spcBef>
              <a:spcAft>
                <a:spcPts val="0"/>
              </a:spcAft>
              <a:buNone/>
            </a:pPr>
            <a:r>
              <a:rPr lang="en-US"/>
              <a:t>• Role-Based Access Control</a:t>
            </a:r>
            <a:endParaRPr/>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rPr lang="en-US"/>
              <a:t>Accounting:</a:t>
            </a:r>
            <a:endParaRPr/>
          </a:p>
          <a:p>
            <a:pPr indent="0" lvl="0" marL="0" rtl="0" algn="l">
              <a:lnSpc>
                <a:spcPct val="90000"/>
              </a:lnSpc>
              <a:spcBef>
                <a:spcPts val="0"/>
              </a:spcBef>
              <a:spcAft>
                <a:spcPts val="0"/>
              </a:spcAft>
              <a:buNone/>
            </a:pPr>
            <a:r>
              <a:rPr lang="en-US"/>
              <a:t>• Centralized logging</a:t>
            </a:r>
            <a:endParaRPr/>
          </a:p>
          <a:p>
            <a:pPr indent="0" lvl="0" marL="0" rtl="0" algn="l">
              <a:lnSpc>
                <a:spcPct val="90000"/>
              </a:lnSpc>
              <a:spcBef>
                <a:spcPts val="0"/>
              </a:spcBef>
              <a:spcAft>
                <a:spcPts val="0"/>
              </a:spcAft>
              <a:buNone/>
            </a:pPr>
            <a:r>
              <a:rPr lang="en-US"/>
              <a:t>• Audit trails</a:t>
            </a:r>
            <a:endParaRPr/>
          </a:p>
          <a:p>
            <a:pPr indent="0" lvl="0" marL="0" rtl="0" algn="l">
              <a:lnSpc>
                <a:spcPct val="90000"/>
              </a:lnSpc>
              <a:spcBef>
                <a:spcPts val="0"/>
              </a:spcBef>
              <a:spcAft>
                <a:spcPts val="0"/>
              </a:spcAft>
              <a:buNone/>
            </a:pPr>
            <a:r>
              <a:rPr lang="en-US"/>
              <a:t>• Log retention policy</a:t>
            </a:r>
            <a:endParaRPr/>
          </a:p>
        </p:txBody>
      </p:sp>
      <p:pic>
        <p:nvPicPr>
          <p:cNvPr descr="Green Pace logo" id="190" name="Google Shape;190;p8"/>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c9f15f6705_0_16"/>
          <p:cNvSpPr txBox="1"/>
          <p:nvPr>
            <p:ph type="title"/>
          </p:nvPr>
        </p:nvSpPr>
        <p:spPr>
          <a:xfrm>
            <a:off x="2895600" y="764373"/>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Vulnerability: Buffer Overflow</a:t>
            </a:r>
            <a:endParaRPr/>
          </a:p>
        </p:txBody>
      </p:sp>
      <p:sp>
        <p:nvSpPr>
          <p:cNvPr id="196" name="Google Shape;196;g3c9f15f6705_0_16"/>
          <p:cNvSpPr txBox="1"/>
          <p:nvPr>
            <p:ph idx="1" type="body"/>
          </p:nvPr>
        </p:nvSpPr>
        <p:spPr>
          <a:xfrm>
            <a:off x="685800" y="2194560"/>
            <a:ext cx="10820400" cy="4024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Vulnerability Tested: Buffer Overflow (Improper Input Validation)</a:t>
            </a:r>
            <a:endParaRPr/>
          </a:p>
          <a:p>
            <a:pPr indent="0" lvl="0" marL="0" rtl="0" algn="l">
              <a:lnSpc>
                <a:spcPct val="115000"/>
              </a:lnSpc>
              <a:spcBef>
                <a:spcPts val="1200"/>
              </a:spcBef>
              <a:spcAft>
                <a:spcPts val="0"/>
              </a:spcAft>
              <a:buClr>
                <a:schemeClr val="dk1"/>
              </a:buClr>
              <a:buSzPts val="1100"/>
              <a:buFont typeface="Arial"/>
              <a:buNone/>
            </a:pPr>
            <a:r>
              <a:rPr lang="en-US"/>
              <a:t>Framework Used:</a:t>
            </a:r>
            <a:br>
              <a:rPr lang="en-US"/>
            </a:br>
            <a:r>
              <a:rPr lang="en-US"/>
              <a:t> Visual Studio C++ Unit Testing Framework</a:t>
            </a:r>
            <a:endParaRPr/>
          </a:p>
          <a:p>
            <a:pPr indent="0" lvl="0" marL="0" rtl="0" algn="l">
              <a:lnSpc>
                <a:spcPct val="115000"/>
              </a:lnSpc>
              <a:spcBef>
                <a:spcPts val="1200"/>
              </a:spcBef>
              <a:spcAft>
                <a:spcPts val="0"/>
              </a:spcAft>
              <a:buClr>
                <a:schemeClr val="dk1"/>
              </a:buClr>
              <a:buSzPts val="1100"/>
              <a:buFont typeface="Arial"/>
              <a:buNone/>
            </a:pPr>
            <a:r>
              <a:rPr lang="en-US"/>
              <a:t>Test Cases:</a:t>
            </a:r>
            <a:br>
              <a:rPr lang="en-US"/>
            </a:br>
            <a:r>
              <a:rPr lang="en-US"/>
              <a:t> • Valid input accepted</a:t>
            </a:r>
            <a:br>
              <a:rPr lang="en-US"/>
            </a:br>
            <a:r>
              <a:rPr lang="en-US"/>
              <a:t> • Oversized input rejected</a:t>
            </a:r>
            <a:br>
              <a:rPr lang="en-US"/>
            </a:br>
            <a:r>
              <a:rPr lang="en-US"/>
              <a:t> • Boundary length handled correctly</a:t>
            </a:r>
            <a:br>
              <a:rPr lang="en-US"/>
            </a:br>
            <a:r>
              <a:rPr lang="en-US"/>
              <a:t> • Null input rejected</a:t>
            </a:r>
            <a:br>
              <a:rPr lang="en-US"/>
            </a:br>
            <a:r>
              <a:rPr lang="en-US"/>
              <a:t> • Special characters rejected</a:t>
            </a:r>
            <a:endParaRPr/>
          </a:p>
          <a:p>
            <a:pPr indent="0" lvl="0" marL="0" rtl="0" algn="l">
              <a:lnSpc>
                <a:spcPct val="90000"/>
              </a:lnSpc>
              <a:spcBef>
                <a:spcPts val="1200"/>
              </a:spcBef>
              <a:spcAft>
                <a:spcPts val="0"/>
              </a:spcAft>
              <a:buSzPts val="1800"/>
              <a:buNone/>
            </a:pPr>
            <a:r>
              <a:t/>
            </a:r>
            <a:endParaRPr/>
          </a:p>
        </p:txBody>
      </p:sp>
      <p:pic>
        <p:nvPicPr>
          <p:cNvPr descr="Green Pace logo" id="197" name="Google Shape;197;g3c9f15f6705_0_16"/>
          <p:cNvPicPr preferRelativeResize="0"/>
          <p:nvPr/>
        </p:nvPicPr>
        <p:blipFill rotWithShape="1">
          <a:blip r:embed="rId3">
            <a:alphaModFix/>
          </a:blip>
          <a:srcRect b="0" l="0" r="0" t="0"/>
          <a:stretch/>
        </p:blipFill>
        <p:spPr>
          <a:xfrm>
            <a:off x="11084074" y="5440526"/>
            <a:ext cx="886603" cy="11492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c9f15f6705_0_30"/>
          <p:cNvSpPr txBox="1"/>
          <p:nvPr>
            <p:ph type="title"/>
          </p:nvPr>
        </p:nvSpPr>
        <p:spPr>
          <a:xfrm>
            <a:off x="2895600" y="764373"/>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Vulnerability: Buffer Overflow</a:t>
            </a:r>
            <a:endParaRPr/>
          </a:p>
        </p:txBody>
      </p:sp>
      <p:sp>
        <p:nvSpPr>
          <p:cNvPr id="203" name="Google Shape;203;g3c9f15f6705_0_30"/>
          <p:cNvSpPr txBox="1"/>
          <p:nvPr>
            <p:ph idx="1" type="body"/>
          </p:nvPr>
        </p:nvSpPr>
        <p:spPr>
          <a:xfrm>
            <a:off x="685800" y="2194560"/>
            <a:ext cx="10820400" cy="4024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a:t>Does the function accept valid input?</a:t>
            </a:r>
            <a:endParaRPr/>
          </a:p>
          <a:p>
            <a:pPr indent="0" lvl="0" marL="0" rtl="0" algn="l">
              <a:spcBef>
                <a:spcPts val="1000"/>
              </a:spcBef>
              <a:spcAft>
                <a:spcPts val="0"/>
              </a:spcAft>
              <a:buClr>
                <a:schemeClr val="dk1"/>
              </a:buClr>
              <a:buSzPts val="1100"/>
              <a:buFont typeface="Arial"/>
              <a:buNone/>
            </a:pPr>
            <a:r>
              <a:rPr lang="en-US"/>
              <a:t>TEST_METHOD(TestValidInput)</a:t>
            </a:r>
            <a:endParaRPr/>
          </a:p>
          <a:p>
            <a:pPr indent="0" lvl="0" marL="0" rtl="0" algn="l">
              <a:spcBef>
                <a:spcPts val="1000"/>
              </a:spcBef>
              <a:spcAft>
                <a:spcPts val="0"/>
              </a:spcAft>
              <a:buClr>
                <a:schemeClr val="dk1"/>
              </a:buClr>
              <a:buSzPts val="1100"/>
              <a:buFont typeface="Arial"/>
              <a:buNone/>
            </a:pPr>
            <a:r>
              <a:rPr lang="en-US"/>
              <a:t>{</a:t>
            </a:r>
            <a:endParaRPr/>
          </a:p>
          <a:p>
            <a:pPr indent="0" lvl="0" marL="0" rtl="0" algn="l">
              <a:spcBef>
                <a:spcPts val="1000"/>
              </a:spcBef>
              <a:spcAft>
                <a:spcPts val="0"/>
              </a:spcAft>
              <a:buClr>
                <a:schemeClr val="dk1"/>
              </a:buClr>
              <a:buSzPts val="1100"/>
              <a:buFont typeface="Arial"/>
              <a:buNone/>
            </a:pPr>
            <a:r>
              <a:rPr lang="en-US"/>
              <a:t>    char input[10] = "Valid";</a:t>
            </a:r>
            <a:endParaRPr/>
          </a:p>
          <a:p>
            <a:pPr indent="0" lvl="0" marL="0" rtl="0" algn="l">
              <a:spcBef>
                <a:spcPts val="1000"/>
              </a:spcBef>
              <a:spcAft>
                <a:spcPts val="0"/>
              </a:spcAft>
              <a:buClr>
                <a:schemeClr val="dk1"/>
              </a:buClr>
              <a:buSzPts val="1100"/>
              <a:buFont typeface="Arial"/>
              <a:buNone/>
            </a:pPr>
            <a:r>
              <a:rPr lang="en-US"/>
              <a:t>    Assert::IsTrue(validateInput(input));</a:t>
            </a:r>
            <a:endParaRPr/>
          </a:p>
          <a:p>
            <a:pPr indent="0" lvl="0" marL="0" rtl="0" algn="l">
              <a:spcBef>
                <a:spcPts val="1000"/>
              </a:spcBef>
              <a:spcAft>
                <a:spcPts val="0"/>
              </a:spcAft>
              <a:buClr>
                <a:schemeClr val="dk1"/>
              </a:buClr>
              <a:buSzPts val="1100"/>
              <a:buFont typeface="Arial"/>
              <a:buNone/>
            </a:pPr>
            <a:r>
              <a:rPr lang="en-US"/>
              <a:t>}</a:t>
            </a:r>
            <a:endParaRPr/>
          </a:p>
          <a:p>
            <a:pPr indent="0" lvl="0" marL="0" rtl="0" algn="l">
              <a:lnSpc>
                <a:spcPct val="90000"/>
              </a:lnSpc>
              <a:spcBef>
                <a:spcPts val="1000"/>
              </a:spcBef>
              <a:spcAft>
                <a:spcPts val="0"/>
              </a:spcAft>
              <a:buSzPts val="1800"/>
              <a:buNone/>
            </a:pPr>
            <a:r>
              <a:rPr lang="en-US"/>
              <a:t>Result: PASS</a:t>
            </a:r>
            <a:endParaRPr/>
          </a:p>
          <a:p>
            <a:pPr indent="0" lvl="0" marL="0" rtl="0" algn="l">
              <a:lnSpc>
                <a:spcPct val="115000"/>
              </a:lnSpc>
              <a:spcBef>
                <a:spcPts val="1200"/>
              </a:spcBef>
              <a:spcAft>
                <a:spcPts val="0"/>
              </a:spcAft>
              <a:buClr>
                <a:schemeClr val="dk1"/>
              </a:buClr>
              <a:buSzPts val="1100"/>
              <a:buFont typeface="Arial"/>
              <a:buNone/>
            </a:pPr>
            <a:r>
              <a:rPr lang="en-US"/>
              <a:t>Purpose:</a:t>
            </a:r>
            <a:br>
              <a:rPr lang="en-US"/>
            </a:br>
            <a:r>
              <a:rPr lang="en-US"/>
              <a:t> Confirms secure function still allows correct input.</a:t>
            </a:r>
            <a:endParaRPr/>
          </a:p>
          <a:p>
            <a:pPr indent="0" lvl="0" marL="0" rtl="0" algn="l">
              <a:lnSpc>
                <a:spcPct val="90000"/>
              </a:lnSpc>
              <a:spcBef>
                <a:spcPts val="1200"/>
              </a:spcBef>
              <a:spcAft>
                <a:spcPts val="0"/>
              </a:spcAft>
              <a:buSzPts val="1800"/>
              <a:buNone/>
            </a:pPr>
            <a:r>
              <a:t/>
            </a:r>
            <a:endParaRPr/>
          </a:p>
        </p:txBody>
      </p:sp>
      <p:pic>
        <p:nvPicPr>
          <p:cNvPr descr="Green Pace logo" id="204" name="Google Shape;204;g3c9f15f6705_0_30"/>
          <p:cNvPicPr preferRelativeResize="0"/>
          <p:nvPr/>
        </p:nvPicPr>
        <p:blipFill rotWithShape="1">
          <a:blip r:embed="rId3">
            <a:alphaModFix/>
          </a:blip>
          <a:srcRect b="0" l="0" r="0" t="0"/>
          <a:stretch/>
        </p:blipFill>
        <p:spPr>
          <a:xfrm>
            <a:off x="11084074" y="5440526"/>
            <a:ext cx="886603" cy="11492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c9f15f6705_0_24"/>
          <p:cNvSpPr txBox="1"/>
          <p:nvPr>
            <p:ph type="title"/>
          </p:nvPr>
        </p:nvSpPr>
        <p:spPr>
          <a:xfrm>
            <a:off x="2895600" y="764373"/>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Vulnerability: Buffer Overflow</a:t>
            </a:r>
            <a:endParaRPr/>
          </a:p>
        </p:txBody>
      </p:sp>
      <p:sp>
        <p:nvSpPr>
          <p:cNvPr id="210" name="Google Shape;210;g3c9f15f6705_0_24"/>
          <p:cNvSpPr txBox="1"/>
          <p:nvPr>
            <p:ph idx="1" type="body"/>
          </p:nvPr>
        </p:nvSpPr>
        <p:spPr>
          <a:xfrm>
            <a:off x="835000" y="2194560"/>
            <a:ext cx="10820400" cy="4024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a:t>Does the function reject oversized input?</a:t>
            </a:r>
            <a:endParaRPr/>
          </a:p>
          <a:p>
            <a:pPr indent="0" lvl="0" marL="0" rtl="0" algn="l">
              <a:spcBef>
                <a:spcPts val="1000"/>
              </a:spcBef>
              <a:spcAft>
                <a:spcPts val="0"/>
              </a:spcAft>
              <a:buClr>
                <a:schemeClr val="dk1"/>
              </a:buClr>
              <a:buSzPts val="1100"/>
              <a:buFont typeface="Arial"/>
              <a:buNone/>
            </a:pPr>
            <a:r>
              <a:rPr lang="en-US"/>
              <a:t>TEST_METHOD(TestOversizedInput)</a:t>
            </a:r>
            <a:endParaRPr/>
          </a:p>
          <a:p>
            <a:pPr indent="0" lvl="0" marL="0" rtl="0" algn="l">
              <a:spcBef>
                <a:spcPts val="1000"/>
              </a:spcBef>
              <a:spcAft>
                <a:spcPts val="0"/>
              </a:spcAft>
              <a:buClr>
                <a:schemeClr val="dk1"/>
              </a:buClr>
              <a:buSzPts val="1100"/>
              <a:buFont typeface="Arial"/>
              <a:buNone/>
            </a:pPr>
            <a:r>
              <a:rPr lang="en-US"/>
              <a:t>{</a:t>
            </a:r>
            <a:endParaRPr/>
          </a:p>
          <a:p>
            <a:pPr indent="0" lvl="0" marL="0" rtl="0" algn="l">
              <a:spcBef>
                <a:spcPts val="1000"/>
              </a:spcBef>
              <a:spcAft>
                <a:spcPts val="0"/>
              </a:spcAft>
              <a:buClr>
                <a:schemeClr val="dk1"/>
              </a:buClr>
              <a:buSzPts val="1100"/>
              <a:buFont typeface="Arial"/>
              <a:buNone/>
            </a:pPr>
            <a:r>
              <a:rPr lang="en-US"/>
              <a:t>    char input[10] = "ThisInputIsTooLong";</a:t>
            </a:r>
            <a:endParaRPr/>
          </a:p>
          <a:p>
            <a:pPr indent="0" lvl="0" marL="0" rtl="0" algn="l">
              <a:spcBef>
                <a:spcPts val="1000"/>
              </a:spcBef>
              <a:spcAft>
                <a:spcPts val="0"/>
              </a:spcAft>
              <a:buClr>
                <a:schemeClr val="dk1"/>
              </a:buClr>
              <a:buSzPts val="1100"/>
              <a:buFont typeface="Arial"/>
              <a:buNone/>
            </a:pPr>
            <a:r>
              <a:rPr lang="en-US"/>
              <a:t>    Assert::IsFalse(validateInput(input));</a:t>
            </a:r>
            <a:endParaRPr/>
          </a:p>
          <a:p>
            <a:pPr indent="0" lvl="0" marL="0" rtl="0" algn="l">
              <a:spcBef>
                <a:spcPts val="1000"/>
              </a:spcBef>
              <a:spcAft>
                <a:spcPts val="0"/>
              </a:spcAft>
              <a:buClr>
                <a:schemeClr val="dk1"/>
              </a:buClr>
              <a:buSzPts val="1100"/>
              <a:buFont typeface="Arial"/>
              <a:buNone/>
            </a:pPr>
            <a:r>
              <a:rPr lang="en-US"/>
              <a:t>}</a:t>
            </a:r>
            <a:endParaRPr/>
          </a:p>
          <a:p>
            <a:pPr indent="0" lvl="0" marL="0" rtl="0" algn="l">
              <a:lnSpc>
                <a:spcPct val="115000"/>
              </a:lnSpc>
              <a:spcBef>
                <a:spcPts val="1200"/>
              </a:spcBef>
              <a:spcAft>
                <a:spcPts val="0"/>
              </a:spcAft>
              <a:buClr>
                <a:schemeClr val="dk1"/>
              </a:buClr>
              <a:buSzPts val="1100"/>
              <a:buFont typeface="Arial"/>
              <a:buNone/>
            </a:pPr>
            <a:r>
              <a:rPr lang="en-US"/>
              <a:t>Result: PASS</a:t>
            </a:r>
            <a:endParaRPr/>
          </a:p>
          <a:p>
            <a:pPr indent="0" lvl="0" marL="0" rtl="0" algn="l">
              <a:lnSpc>
                <a:spcPct val="115000"/>
              </a:lnSpc>
              <a:spcBef>
                <a:spcPts val="1200"/>
              </a:spcBef>
              <a:spcAft>
                <a:spcPts val="0"/>
              </a:spcAft>
              <a:buClr>
                <a:schemeClr val="dk1"/>
              </a:buClr>
              <a:buSzPts val="1100"/>
              <a:buFont typeface="Arial"/>
              <a:buNone/>
            </a:pPr>
            <a:r>
              <a:rPr lang="en-US"/>
              <a:t>Purpose:</a:t>
            </a:r>
            <a:br>
              <a:rPr lang="en-US"/>
            </a:br>
            <a:r>
              <a:rPr lang="en-US"/>
              <a:t> Prevents buffer overflow vulnerability.</a:t>
            </a:r>
            <a:endParaRPr/>
          </a:p>
          <a:p>
            <a:pPr indent="0" lvl="0" marL="0" rtl="0" algn="l">
              <a:lnSpc>
                <a:spcPct val="90000"/>
              </a:lnSpc>
              <a:spcBef>
                <a:spcPts val="1200"/>
              </a:spcBef>
              <a:spcAft>
                <a:spcPts val="0"/>
              </a:spcAft>
              <a:buSzPts val="1800"/>
              <a:buNone/>
            </a:pPr>
            <a:r>
              <a:t/>
            </a:r>
            <a:endParaRPr/>
          </a:p>
        </p:txBody>
      </p:sp>
      <p:pic>
        <p:nvPicPr>
          <p:cNvPr descr="Green Pace logo" id="211" name="Google Shape;211;g3c9f15f6705_0_24"/>
          <p:cNvPicPr preferRelativeResize="0"/>
          <p:nvPr/>
        </p:nvPicPr>
        <p:blipFill rotWithShape="1">
          <a:blip r:embed="rId3">
            <a:alphaModFix/>
          </a:blip>
          <a:srcRect b="0" l="0" r="0" t="0"/>
          <a:stretch/>
        </p:blipFill>
        <p:spPr>
          <a:xfrm>
            <a:off x="11084074" y="5440526"/>
            <a:ext cx="886603" cy="11492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c9f15f6705_0_44"/>
          <p:cNvSpPr txBox="1"/>
          <p:nvPr>
            <p:ph type="title"/>
          </p:nvPr>
        </p:nvSpPr>
        <p:spPr>
          <a:xfrm>
            <a:off x="2895600" y="764373"/>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Vulnerability: Buffer Overflow</a:t>
            </a:r>
            <a:endParaRPr/>
          </a:p>
        </p:txBody>
      </p:sp>
      <p:sp>
        <p:nvSpPr>
          <p:cNvPr id="217" name="Google Shape;217;g3c9f15f6705_0_44"/>
          <p:cNvSpPr txBox="1"/>
          <p:nvPr>
            <p:ph idx="1" type="body"/>
          </p:nvPr>
        </p:nvSpPr>
        <p:spPr>
          <a:xfrm>
            <a:off x="835000" y="2194560"/>
            <a:ext cx="10820400" cy="4024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a:t>Does the function handle boundary-length input safely?</a:t>
            </a:r>
            <a:endParaRPr/>
          </a:p>
          <a:p>
            <a:pPr indent="0" lvl="0" marL="0" rtl="0" algn="l">
              <a:spcBef>
                <a:spcPts val="1000"/>
              </a:spcBef>
              <a:spcAft>
                <a:spcPts val="0"/>
              </a:spcAft>
              <a:buSzPts val="1100"/>
              <a:buNone/>
            </a:pPr>
            <a:r>
              <a:rPr lang="en-US"/>
              <a:t>TEST_METHOD(TestBoundaryInput)</a:t>
            </a:r>
            <a:endParaRPr/>
          </a:p>
          <a:p>
            <a:pPr indent="0" lvl="0" marL="0" rtl="0" algn="l">
              <a:spcBef>
                <a:spcPts val="1000"/>
              </a:spcBef>
              <a:spcAft>
                <a:spcPts val="0"/>
              </a:spcAft>
              <a:buSzPts val="1100"/>
              <a:buNone/>
            </a:pPr>
            <a:r>
              <a:rPr lang="en-US"/>
              <a:t>{</a:t>
            </a:r>
            <a:endParaRPr/>
          </a:p>
          <a:p>
            <a:pPr indent="0" lvl="0" marL="0" rtl="0" algn="l">
              <a:spcBef>
                <a:spcPts val="1000"/>
              </a:spcBef>
              <a:spcAft>
                <a:spcPts val="0"/>
              </a:spcAft>
              <a:buSzPts val="1100"/>
              <a:buNone/>
            </a:pPr>
            <a:r>
              <a:rPr lang="en-US"/>
              <a:t>    char input[10] = "123456789";</a:t>
            </a:r>
            <a:endParaRPr/>
          </a:p>
          <a:p>
            <a:pPr indent="0" lvl="0" marL="0" rtl="0" algn="l">
              <a:spcBef>
                <a:spcPts val="1000"/>
              </a:spcBef>
              <a:spcAft>
                <a:spcPts val="0"/>
              </a:spcAft>
              <a:buSzPts val="1100"/>
              <a:buNone/>
            </a:pPr>
            <a:r>
              <a:rPr lang="en-US"/>
              <a:t>    Assert::IsTrue(validateInput(input));</a:t>
            </a:r>
            <a:endParaRPr/>
          </a:p>
          <a:p>
            <a:pPr indent="0" lvl="0" marL="0" rtl="0" algn="l">
              <a:spcBef>
                <a:spcPts val="1000"/>
              </a:spcBef>
              <a:spcAft>
                <a:spcPts val="0"/>
              </a:spcAft>
              <a:buSzPts val="1100"/>
              <a:buNone/>
            </a:pPr>
            <a:r>
              <a:rPr lang="en-US"/>
              <a:t>}</a:t>
            </a:r>
            <a:endParaRPr/>
          </a:p>
          <a:p>
            <a:pPr indent="0" lvl="0" marL="0" rtl="0" algn="l">
              <a:lnSpc>
                <a:spcPct val="115000"/>
              </a:lnSpc>
              <a:spcBef>
                <a:spcPts val="1200"/>
              </a:spcBef>
              <a:spcAft>
                <a:spcPts val="0"/>
              </a:spcAft>
              <a:buSzPts val="1100"/>
              <a:buNone/>
            </a:pPr>
            <a:r>
              <a:rPr lang="en-US"/>
              <a:t>Result: PASS</a:t>
            </a:r>
            <a:endParaRPr/>
          </a:p>
          <a:p>
            <a:pPr indent="0" lvl="0" marL="0" rtl="0" algn="l">
              <a:lnSpc>
                <a:spcPct val="115000"/>
              </a:lnSpc>
              <a:spcBef>
                <a:spcPts val="1200"/>
              </a:spcBef>
              <a:spcAft>
                <a:spcPts val="0"/>
              </a:spcAft>
              <a:buSzPts val="1100"/>
              <a:buNone/>
            </a:pPr>
            <a:r>
              <a:rPr lang="en-US"/>
              <a:t>Purpose:</a:t>
            </a:r>
            <a:br>
              <a:rPr lang="en-US"/>
            </a:br>
            <a:r>
              <a:rPr lang="en-US"/>
              <a:t> Ensures edge-case safety at buffer limit.</a:t>
            </a:r>
            <a:endParaRPr/>
          </a:p>
          <a:p>
            <a:pPr indent="0" lvl="0" marL="0" rtl="0" algn="l">
              <a:lnSpc>
                <a:spcPct val="115000"/>
              </a:lnSpc>
              <a:spcBef>
                <a:spcPts val="1200"/>
              </a:spcBef>
              <a:spcAft>
                <a:spcPts val="0"/>
              </a:spcAft>
              <a:buSzPts val="1100"/>
              <a:buNone/>
            </a:pPr>
            <a:r>
              <a:t/>
            </a:r>
            <a:endParaRPr/>
          </a:p>
          <a:p>
            <a:pPr indent="0" lvl="0" marL="0" rtl="0" algn="l">
              <a:lnSpc>
                <a:spcPct val="90000"/>
              </a:lnSpc>
              <a:spcBef>
                <a:spcPts val="1200"/>
              </a:spcBef>
              <a:spcAft>
                <a:spcPts val="0"/>
              </a:spcAft>
              <a:buSzPts val="1800"/>
              <a:buNone/>
            </a:pPr>
            <a:r>
              <a:t/>
            </a:r>
            <a:endParaRPr/>
          </a:p>
        </p:txBody>
      </p:sp>
      <p:pic>
        <p:nvPicPr>
          <p:cNvPr descr="Green Pace logo" id="218" name="Google Shape;218;g3c9f15f6705_0_44"/>
          <p:cNvPicPr preferRelativeResize="0"/>
          <p:nvPr/>
        </p:nvPicPr>
        <p:blipFill rotWithShape="1">
          <a:blip r:embed="rId3">
            <a:alphaModFix/>
          </a:blip>
          <a:srcRect b="0" l="0" r="0" t="0"/>
          <a:stretch/>
        </p:blipFill>
        <p:spPr>
          <a:xfrm>
            <a:off x="11084074" y="5440526"/>
            <a:ext cx="886603" cy="11492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c9f15f6705_0_55"/>
          <p:cNvSpPr txBox="1"/>
          <p:nvPr>
            <p:ph type="title"/>
          </p:nvPr>
        </p:nvSpPr>
        <p:spPr>
          <a:xfrm>
            <a:off x="2895600" y="764373"/>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Vulnerability: Buffer Overflow</a:t>
            </a:r>
            <a:endParaRPr/>
          </a:p>
        </p:txBody>
      </p:sp>
      <p:sp>
        <p:nvSpPr>
          <p:cNvPr id="224" name="Google Shape;224;g3c9f15f6705_0_55"/>
          <p:cNvSpPr txBox="1"/>
          <p:nvPr>
            <p:ph idx="1" type="body"/>
          </p:nvPr>
        </p:nvSpPr>
        <p:spPr>
          <a:xfrm>
            <a:off x="835000" y="2194560"/>
            <a:ext cx="10820400" cy="4024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a:t>Does the function reject null input?</a:t>
            </a:r>
            <a:endParaRPr/>
          </a:p>
          <a:p>
            <a:pPr indent="0" lvl="0" marL="0" rtl="0" algn="l">
              <a:spcBef>
                <a:spcPts val="1000"/>
              </a:spcBef>
              <a:spcAft>
                <a:spcPts val="0"/>
              </a:spcAft>
              <a:buSzPts val="1100"/>
              <a:buNone/>
            </a:pPr>
            <a:r>
              <a:rPr lang="en-US"/>
              <a:t>TEST_METHOD(TestNullInput)</a:t>
            </a:r>
            <a:endParaRPr/>
          </a:p>
          <a:p>
            <a:pPr indent="0" lvl="0" marL="0" rtl="0" algn="l">
              <a:spcBef>
                <a:spcPts val="1000"/>
              </a:spcBef>
              <a:spcAft>
                <a:spcPts val="0"/>
              </a:spcAft>
              <a:buSzPts val="1100"/>
              <a:buNone/>
            </a:pPr>
            <a:r>
              <a:rPr lang="en-US"/>
              <a:t>{</a:t>
            </a:r>
            <a:endParaRPr/>
          </a:p>
          <a:p>
            <a:pPr indent="0" lvl="0" marL="0" rtl="0" algn="l">
              <a:spcBef>
                <a:spcPts val="1000"/>
              </a:spcBef>
              <a:spcAft>
                <a:spcPts val="0"/>
              </a:spcAft>
              <a:buSzPts val="1100"/>
              <a:buNone/>
            </a:pPr>
            <a:r>
              <a:rPr lang="en-US"/>
              <a:t>    Assert::IsFalse(validateInput(nullptr));</a:t>
            </a:r>
            <a:endParaRPr/>
          </a:p>
          <a:p>
            <a:pPr indent="0" lvl="0" marL="0" rtl="0" algn="l">
              <a:spcBef>
                <a:spcPts val="1000"/>
              </a:spcBef>
              <a:spcAft>
                <a:spcPts val="0"/>
              </a:spcAft>
              <a:buSzPts val="1100"/>
              <a:buNone/>
            </a:pPr>
            <a:r>
              <a:rPr lang="en-US"/>
              <a:t>}</a:t>
            </a:r>
            <a:endParaRPr/>
          </a:p>
          <a:p>
            <a:pPr indent="0" lvl="0" marL="0" rtl="0" algn="l">
              <a:lnSpc>
                <a:spcPct val="115000"/>
              </a:lnSpc>
              <a:spcBef>
                <a:spcPts val="1200"/>
              </a:spcBef>
              <a:spcAft>
                <a:spcPts val="0"/>
              </a:spcAft>
              <a:buSzPts val="1100"/>
              <a:buNone/>
            </a:pPr>
            <a:r>
              <a:rPr lang="en-US"/>
              <a:t>Result: PASS</a:t>
            </a:r>
            <a:endParaRPr/>
          </a:p>
          <a:p>
            <a:pPr indent="0" lvl="0" marL="0" rtl="0" algn="l">
              <a:lnSpc>
                <a:spcPct val="115000"/>
              </a:lnSpc>
              <a:spcBef>
                <a:spcPts val="1200"/>
              </a:spcBef>
              <a:spcAft>
                <a:spcPts val="0"/>
              </a:spcAft>
              <a:buSzPts val="1100"/>
              <a:buNone/>
            </a:pPr>
            <a:r>
              <a:rPr lang="en-US"/>
              <a:t>Purpose:</a:t>
            </a:r>
            <a:br>
              <a:rPr lang="en-US"/>
            </a:br>
            <a:r>
              <a:rPr lang="en-US"/>
              <a:t> Prevents null dereference vulnerability.</a:t>
            </a:r>
            <a:endParaRPr/>
          </a:p>
          <a:p>
            <a:pPr indent="0" lvl="0" marL="0" rtl="0" algn="l">
              <a:lnSpc>
                <a:spcPct val="115000"/>
              </a:lnSpc>
              <a:spcBef>
                <a:spcPts val="1200"/>
              </a:spcBef>
              <a:spcAft>
                <a:spcPts val="0"/>
              </a:spcAft>
              <a:buSzPts val="1100"/>
              <a:buNone/>
            </a:pPr>
            <a:r>
              <a:t/>
            </a:r>
            <a:endParaRPr/>
          </a:p>
          <a:p>
            <a:pPr indent="0" lvl="0" marL="0" rtl="0" algn="l">
              <a:lnSpc>
                <a:spcPct val="90000"/>
              </a:lnSpc>
              <a:spcBef>
                <a:spcPts val="1200"/>
              </a:spcBef>
              <a:spcAft>
                <a:spcPts val="0"/>
              </a:spcAft>
              <a:buSzPts val="1800"/>
              <a:buNone/>
            </a:pPr>
            <a:r>
              <a:t/>
            </a:r>
            <a:endParaRPr/>
          </a:p>
        </p:txBody>
      </p:sp>
      <p:pic>
        <p:nvPicPr>
          <p:cNvPr descr="Green Pace logo" id="225" name="Google Shape;225;g3c9f15f6705_0_55"/>
          <p:cNvPicPr preferRelativeResize="0"/>
          <p:nvPr/>
        </p:nvPicPr>
        <p:blipFill rotWithShape="1">
          <a:blip r:embed="rId3">
            <a:alphaModFix/>
          </a:blip>
          <a:srcRect b="0" l="0" r="0" t="0"/>
          <a:stretch/>
        </p:blipFill>
        <p:spPr>
          <a:xfrm>
            <a:off x="11084074" y="5440526"/>
            <a:ext cx="886603" cy="11492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AUTOMATION SUMMARY</a:t>
            </a:r>
            <a:endParaRPr/>
          </a:p>
        </p:txBody>
      </p:sp>
      <p:pic>
        <p:nvPicPr>
          <p:cNvPr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id="231" name="Google Shape;231;p9"/>
          <p:cNvPicPr preferRelativeResize="0"/>
          <p:nvPr>
            <p:ph idx="1" type="body"/>
          </p:nvPr>
        </p:nvPicPr>
        <p:blipFill rotWithShape="1">
          <a:blip r:embed="rId3">
            <a:alphaModFix/>
          </a:blip>
          <a:srcRect b="0" l="0" r="0" t="0"/>
          <a:stretch/>
        </p:blipFill>
        <p:spPr>
          <a:xfrm>
            <a:off x="2127250" y="2199481"/>
            <a:ext cx="7937500" cy="4013200"/>
          </a:xfrm>
          <a:prstGeom prst="rect">
            <a:avLst/>
          </a:prstGeom>
          <a:noFill/>
          <a:ln>
            <a:noFill/>
          </a:ln>
        </p:spPr>
      </p:pic>
      <p:pic>
        <p:nvPicPr>
          <p:cNvPr descr="Green Pace logo" id="232" name="Google Shape;232;p9"/>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0"/>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TOOLS</a:t>
            </a:r>
            <a:endParaRPr/>
          </a:p>
        </p:txBody>
      </p:sp>
      <p:sp>
        <p:nvSpPr>
          <p:cNvPr id="238" name="Google Shape;238;p10"/>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3600"/>
              <a:t>• MSVC /analyze</a:t>
            </a:r>
            <a:br>
              <a:rPr lang="en-US" sz="3600"/>
            </a:br>
            <a:r>
              <a:rPr lang="en-US" sz="3600"/>
              <a:t>• Static Code Analysis</a:t>
            </a:r>
            <a:br>
              <a:rPr lang="en-US" sz="3600"/>
            </a:br>
            <a:r>
              <a:rPr lang="en-US" sz="3600"/>
              <a:t>• Unit Testing Framework</a:t>
            </a:r>
            <a:br>
              <a:rPr lang="en-US" sz="3600"/>
            </a:br>
            <a:r>
              <a:rPr lang="en-US" sz="3600"/>
              <a:t>• Dependency Scanner</a:t>
            </a:r>
            <a:br>
              <a:rPr lang="en-US" sz="3600"/>
            </a:br>
            <a:r>
              <a:rPr lang="en-US" sz="3600"/>
              <a:t>• CI/CD Security Gates</a:t>
            </a:r>
            <a:endParaRPr sz="3600"/>
          </a:p>
          <a:p>
            <a:pPr indent="0" lvl="0" marL="914400" rtl="0" algn="l">
              <a:lnSpc>
                <a:spcPct val="90000"/>
              </a:lnSpc>
              <a:spcBef>
                <a:spcPts val="1200"/>
              </a:spcBef>
              <a:spcAft>
                <a:spcPts val="0"/>
              </a:spcAft>
              <a:buNone/>
            </a:pPr>
            <a:r>
              <a:t/>
            </a:r>
            <a:endParaRPr sz="2000"/>
          </a:p>
        </p:txBody>
      </p:sp>
      <p:pic>
        <p:nvPicPr>
          <p:cNvPr descr="Green Pace logo" id="239" name="Google Shape;239;p10"/>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RISKS AND BENEFITS</a:t>
            </a:r>
            <a:endParaRPr/>
          </a:p>
        </p:txBody>
      </p:sp>
      <p:sp>
        <p:nvSpPr>
          <p:cNvPr id="245" name="Google Shape;245;p1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15000"/>
              </a:lnSpc>
              <a:spcBef>
                <a:spcPts val="1200"/>
              </a:spcBef>
              <a:spcAft>
                <a:spcPts val="0"/>
              </a:spcAft>
              <a:buNone/>
            </a:pPr>
            <a:r>
              <a:rPr lang="en-US" sz="2000"/>
              <a:t>Act Now:</a:t>
            </a:r>
            <a:endParaRPr sz="2000"/>
          </a:p>
          <a:p>
            <a:pPr indent="-282733" lvl="0" marL="457200" rtl="0" algn="l">
              <a:lnSpc>
                <a:spcPct val="115000"/>
              </a:lnSpc>
              <a:spcBef>
                <a:spcPts val="1200"/>
              </a:spcBef>
              <a:spcAft>
                <a:spcPts val="0"/>
              </a:spcAft>
              <a:buClr>
                <a:schemeClr val="dk1"/>
              </a:buClr>
              <a:buSzPct val="55000"/>
              <a:buChar char="●"/>
            </a:pPr>
            <a:r>
              <a:rPr lang="en-US" sz="2000"/>
              <a:t>Reduced breach probability</a:t>
            </a:r>
            <a:br>
              <a:rPr lang="en-US" sz="2000"/>
            </a:br>
            <a:endParaRPr sz="2000"/>
          </a:p>
          <a:p>
            <a:pPr indent="-282733" lvl="0" marL="457200" rtl="0" algn="l">
              <a:lnSpc>
                <a:spcPct val="115000"/>
              </a:lnSpc>
              <a:spcBef>
                <a:spcPts val="0"/>
              </a:spcBef>
              <a:spcAft>
                <a:spcPts val="0"/>
              </a:spcAft>
              <a:buClr>
                <a:schemeClr val="dk1"/>
              </a:buClr>
              <a:buSzPct val="55000"/>
              <a:buChar char="●"/>
            </a:pPr>
            <a:r>
              <a:rPr lang="en-US" sz="2000"/>
              <a:t>Lower remediation cost</a:t>
            </a:r>
            <a:br>
              <a:rPr lang="en-US" sz="2000"/>
            </a:br>
            <a:endParaRPr sz="2000"/>
          </a:p>
          <a:p>
            <a:pPr indent="-282733" lvl="0" marL="457200" rtl="0" algn="l">
              <a:lnSpc>
                <a:spcPct val="115000"/>
              </a:lnSpc>
              <a:spcBef>
                <a:spcPts val="0"/>
              </a:spcBef>
              <a:spcAft>
                <a:spcPts val="0"/>
              </a:spcAft>
              <a:buClr>
                <a:schemeClr val="dk1"/>
              </a:buClr>
              <a:buSzPct val="55000"/>
              <a:buChar char="●"/>
            </a:pPr>
            <a:r>
              <a:rPr lang="en-US" sz="2000"/>
              <a:t>Regulatory compliance</a:t>
            </a:r>
            <a:br>
              <a:rPr lang="en-US" sz="2000"/>
            </a:br>
            <a:endParaRPr sz="2000"/>
          </a:p>
          <a:p>
            <a:pPr indent="0" lvl="0" marL="0" rtl="0" algn="l">
              <a:lnSpc>
                <a:spcPct val="115000"/>
              </a:lnSpc>
              <a:spcBef>
                <a:spcPts val="1200"/>
              </a:spcBef>
              <a:spcAft>
                <a:spcPts val="0"/>
              </a:spcAft>
              <a:buNone/>
            </a:pPr>
            <a:r>
              <a:rPr lang="en-US" sz="2000"/>
              <a:t>Delay:</a:t>
            </a:r>
            <a:br>
              <a:rPr lang="en-US" sz="2000"/>
            </a:br>
            <a:r>
              <a:rPr lang="en-US" sz="2000"/>
              <a:t> – Increased attack surface</a:t>
            </a:r>
            <a:br>
              <a:rPr lang="en-US" sz="2000"/>
            </a:br>
            <a:r>
              <a:rPr lang="en-US" sz="2000"/>
              <a:t> – Technical debt</a:t>
            </a:r>
            <a:br>
              <a:rPr lang="en-US" sz="2000"/>
            </a:br>
            <a:r>
              <a:rPr lang="en-US" sz="2000"/>
              <a:t> – Greater financial loss</a:t>
            </a:r>
            <a:endParaRPr sz="2000"/>
          </a:p>
          <a:p>
            <a:pPr indent="0" lvl="0" marL="0" rtl="0" algn="l">
              <a:lnSpc>
                <a:spcPct val="115000"/>
              </a:lnSpc>
              <a:spcBef>
                <a:spcPts val="1200"/>
              </a:spcBef>
              <a:spcAft>
                <a:spcPts val="0"/>
              </a:spcAft>
              <a:buNone/>
            </a:pPr>
            <a:r>
              <a:rPr lang="en-US" sz="2000"/>
              <a:t>Priority:</a:t>
            </a:r>
            <a:br>
              <a:rPr lang="en-US" sz="2000"/>
            </a:br>
            <a:r>
              <a:rPr lang="en-US" sz="2000"/>
              <a:t> Injection and memory vulnerabilities first.</a:t>
            </a:r>
            <a:endParaRPr sz="2000"/>
          </a:p>
          <a:p>
            <a:pPr indent="0" lvl="0" marL="0" rtl="0" algn="l">
              <a:lnSpc>
                <a:spcPct val="90000"/>
              </a:lnSpc>
              <a:spcBef>
                <a:spcPts val="1200"/>
              </a:spcBef>
              <a:spcAft>
                <a:spcPts val="0"/>
              </a:spcAft>
              <a:buNone/>
            </a:pPr>
            <a:r>
              <a:t/>
            </a:r>
            <a:endParaRPr sz="2000"/>
          </a:p>
        </p:txBody>
      </p:sp>
      <p:pic>
        <p:nvPicPr>
          <p:cNvPr descr="Green Pace logo" id="246" name="Google Shape;246;p11"/>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RECOMMENDATIONS</a:t>
            </a:r>
            <a:endParaRPr/>
          </a:p>
        </p:txBody>
      </p:sp>
      <p:sp>
        <p:nvSpPr>
          <p:cNvPr id="252" name="Google Shape;252;p12"/>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342900" lvl="2" marL="1371600" rtl="0" algn="l">
              <a:lnSpc>
                <a:spcPct val="115000"/>
              </a:lnSpc>
              <a:spcBef>
                <a:spcPts val="1200"/>
              </a:spcBef>
              <a:spcAft>
                <a:spcPts val="0"/>
              </a:spcAft>
              <a:buSzPts val="1800"/>
              <a:buChar char="•"/>
            </a:pPr>
            <a:r>
              <a:rPr lang="en-US"/>
              <a:t>Current Gaps:</a:t>
            </a:r>
            <a:br>
              <a:rPr lang="en-US"/>
            </a:br>
            <a:r>
              <a:rPr lang="en-US"/>
              <a:t> • No formal threat modeling</a:t>
            </a:r>
            <a:br>
              <a:rPr lang="en-US"/>
            </a:br>
            <a:r>
              <a:rPr lang="en-US"/>
              <a:t> • Limited penetration testing</a:t>
            </a:r>
            <a:br>
              <a:rPr lang="en-US"/>
            </a:br>
            <a:r>
              <a:rPr lang="en-US"/>
              <a:t> • Inconsistent dependency scanning</a:t>
            </a:r>
            <a:endParaRPr/>
          </a:p>
          <a:p>
            <a:pPr indent="-342900" lvl="2" marL="1371600" rtl="0" algn="l">
              <a:lnSpc>
                <a:spcPct val="115000"/>
              </a:lnSpc>
              <a:spcBef>
                <a:spcPts val="0"/>
              </a:spcBef>
              <a:spcAft>
                <a:spcPts val="0"/>
              </a:spcAft>
              <a:buSzPts val="1800"/>
              <a:buChar char="•"/>
            </a:pPr>
            <a:r>
              <a:rPr lang="en-US"/>
              <a:t>Recommendations:</a:t>
            </a:r>
            <a:br>
              <a:rPr lang="en-US"/>
            </a:br>
            <a:r>
              <a:rPr lang="en-US"/>
              <a:t> • Adopt OWASP Top 10 review cycle</a:t>
            </a:r>
            <a:br>
              <a:rPr lang="en-US"/>
            </a:br>
            <a:r>
              <a:rPr lang="en-US"/>
              <a:t> • Quarterly penetration testing</a:t>
            </a:r>
            <a:br>
              <a:rPr lang="en-US"/>
            </a:br>
            <a:r>
              <a:rPr lang="en-US"/>
              <a:t> • Secure SDLC training</a:t>
            </a:r>
            <a:endParaRPr/>
          </a:p>
          <a:p>
            <a:pPr indent="0" lvl="0" marL="1371600" rtl="0" algn="l">
              <a:lnSpc>
                <a:spcPct val="90000"/>
              </a:lnSpc>
              <a:spcBef>
                <a:spcPts val="1200"/>
              </a:spcBef>
              <a:spcAft>
                <a:spcPts val="0"/>
              </a:spcAft>
              <a:buNone/>
            </a:pPr>
            <a:r>
              <a:t/>
            </a:r>
            <a:endParaRPr/>
          </a:p>
        </p:txBody>
      </p:sp>
      <p:pic>
        <p:nvPicPr>
          <p:cNvPr descr="Green Pace logo" id="253" name="Google Shape;253;p12"/>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CONCLUSIONS</a:t>
            </a:r>
            <a:endParaRPr/>
          </a:p>
        </p:txBody>
      </p:sp>
      <p:sp>
        <p:nvSpPr>
          <p:cNvPr id="259" name="Google Shape;259;p13"/>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rPr lang="en-US"/>
              <a:t>• Standardized secure coding</a:t>
            </a:r>
            <a:br>
              <a:rPr lang="en-US"/>
            </a:br>
            <a:r>
              <a:rPr lang="en-US"/>
              <a:t> • Formal threat classification</a:t>
            </a:r>
            <a:br>
              <a:rPr lang="en-US"/>
            </a:br>
            <a:r>
              <a:rPr lang="en-US"/>
              <a:t> • Encryption and AAA enforcement</a:t>
            </a:r>
            <a:br>
              <a:rPr lang="en-US"/>
            </a:br>
            <a:r>
              <a:rPr lang="en-US"/>
              <a:t> • Automated security testing</a:t>
            </a:r>
            <a:br>
              <a:rPr lang="en-US"/>
            </a:br>
            <a:r>
              <a:rPr lang="en-US"/>
              <a:t> • Continuous improvement required</a:t>
            </a:r>
            <a:endParaRPr/>
          </a:p>
          <a:p>
            <a:pPr indent="0" lvl="0" marL="0" rtl="0" algn="l">
              <a:lnSpc>
                <a:spcPct val="90000"/>
              </a:lnSpc>
              <a:spcBef>
                <a:spcPts val="1200"/>
              </a:spcBef>
              <a:spcAft>
                <a:spcPts val="0"/>
              </a:spcAft>
              <a:buNone/>
            </a:pPr>
            <a:r>
              <a:t/>
            </a:r>
            <a:endParaRPr/>
          </a:p>
          <a:p>
            <a:pPr indent="-88900" lvl="0" marL="228600" rtl="0" algn="l">
              <a:lnSpc>
                <a:spcPct val="90000"/>
              </a:lnSpc>
              <a:spcBef>
                <a:spcPts val="1000"/>
              </a:spcBef>
              <a:spcAft>
                <a:spcPts val="0"/>
              </a:spcAft>
              <a:buClr>
                <a:schemeClr val="lt1"/>
              </a:buClr>
              <a:buSzPts val="2200"/>
              <a:buNone/>
            </a:pPr>
            <a:r>
              <a:t/>
            </a:r>
            <a:endParaRPr/>
          </a:p>
        </p:txBody>
      </p:sp>
      <p:pic>
        <p:nvPicPr>
          <p:cNvPr descr="Green Pace logo" id="260" name="Google Shape;260;p13"/>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4"/>
          <p:cNvSpPr txBox="1"/>
          <p:nvPr>
            <p:ph type="title"/>
          </p:nvPr>
        </p:nvSpPr>
        <p:spPr>
          <a:xfrm>
            <a:off x="2895600" y="764373"/>
            <a:ext cx="86106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REFERENCES</a:t>
            </a:r>
            <a:endParaRPr/>
          </a:p>
        </p:txBody>
      </p:sp>
      <p:sp>
        <p:nvSpPr>
          <p:cNvPr id="266" name="Google Shape;266;p14"/>
          <p:cNvSpPr txBox="1"/>
          <p:nvPr>
            <p:ph idx="1" type="body"/>
          </p:nvPr>
        </p:nvSpPr>
        <p:spPr>
          <a:xfrm>
            <a:off x="685800" y="2194560"/>
            <a:ext cx="10820400" cy="4024200"/>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None/>
            </a:pPr>
            <a:r>
              <a:rPr lang="en-US"/>
              <a:t>OWASP Foundation. (2021). OWASP Top 10: The ten most critical web application security risks. </a:t>
            </a:r>
            <a:r>
              <a:rPr lang="en-US" u="sng">
                <a:solidFill>
                  <a:schemeClr val="hlink"/>
                </a:solidFill>
                <a:hlinkClick r:id="rId3"/>
              </a:rPr>
              <a:t>https://owasp.org/www-project-top-ten/</a:t>
            </a:r>
            <a:endParaRPr/>
          </a:p>
          <a:p>
            <a:pPr indent="0" lvl="0" marL="457200" rtl="0" algn="l">
              <a:lnSpc>
                <a:spcPct val="90000"/>
              </a:lnSpc>
              <a:spcBef>
                <a:spcPts val="0"/>
              </a:spcBef>
              <a:spcAft>
                <a:spcPts val="0"/>
              </a:spcAft>
              <a:buNone/>
            </a:pPr>
            <a:r>
              <a:t/>
            </a:r>
            <a:endParaRPr/>
          </a:p>
          <a:p>
            <a:pPr indent="0" lvl="0" marL="457200" rtl="0" algn="l">
              <a:lnSpc>
                <a:spcPct val="90000"/>
              </a:lnSpc>
              <a:spcBef>
                <a:spcPts val="0"/>
              </a:spcBef>
              <a:spcAft>
                <a:spcPts val="0"/>
              </a:spcAft>
              <a:buNone/>
            </a:pPr>
            <a:r>
              <a:rPr lang="en-US"/>
              <a:t>National Institute of Standards and Technology. (2020). Recommendation for key management (SP 800-57). </a:t>
            </a:r>
            <a:r>
              <a:rPr lang="en-US" u="sng">
                <a:solidFill>
                  <a:schemeClr val="hlink"/>
                </a:solidFill>
                <a:hlinkClick r:id="rId4"/>
              </a:rPr>
              <a:t>https://csrc.nist.gov/publications/detail/sp/800-57-part-1/rev-5/final</a:t>
            </a:r>
            <a:endParaRPr/>
          </a:p>
          <a:p>
            <a:pPr indent="0" lvl="0" marL="457200" rtl="0" algn="l">
              <a:lnSpc>
                <a:spcPct val="90000"/>
              </a:lnSpc>
              <a:spcBef>
                <a:spcPts val="0"/>
              </a:spcBef>
              <a:spcAft>
                <a:spcPts val="0"/>
              </a:spcAft>
              <a:buNone/>
            </a:pPr>
            <a:r>
              <a:t/>
            </a:r>
            <a:endParaRPr/>
          </a:p>
          <a:p>
            <a:pPr indent="0" lvl="0" marL="457200" rtl="0" algn="l">
              <a:lnSpc>
                <a:spcPct val="90000"/>
              </a:lnSpc>
              <a:spcBef>
                <a:spcPts val="0"/>
              </a:spcBef>
              <a:spcAft>
                <a:spcPts val="0"/>
              </a:spcAft>
              <a:buNone/>
            </a:pPr>
            <a:r>
              <a:rPr lang="en-US"/>
              <a:t>Microsoft. (2023). Secure coding guidelines for C++. https://learn.microsoft.com/en-us/cpp/</a:t>
            </a:r>
            <a:endParaRPr/>
          </a:p>
        </p:txBody>
      </p:sp>
      <p:pic>
        <p:nvPicPr>
          <p:cNvPr descr="Green Pace logo" id="267" name="Google Shape;267;p14"/>
          <p:cNvPicPr preferRelativeResize="0"/>
          <p:nvPr/>
        </p:nvPicPr>
        <p:blipFill rotWithShape="1">
          <a:blip r:embed="rId5">
            <a:alphaModFix/>
          </a:blip>
          <a:srcRect b="0" l="0" r="0" t="0"/>
          <a:stretch/>
        </p:blipFill>
        <p:spPr>
          <a:xfrm>
            <a:off x="11084074" y="5440526"/>
            <a:ext cx="886603" cy="114922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2020-08-19T17:59:24Z</dcterms:created>
  <dc:creator>Kathy Shields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